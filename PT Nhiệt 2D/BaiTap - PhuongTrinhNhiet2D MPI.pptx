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5" r:id="rId4"/>
    <p:sldId id="273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8" r:id="rId13"/>
    <p:sldId id="266" r:id="rId14"/>
    <p:sldId id="269" r:id="rId15"/>
    <p:sldId id="270" r:id="rId16"/>
    <p:sldId id="274" r:id="rId17"/>
    <p:sldId id="271" r:id="rId18"/>
    <p:sldId id="272" r:id="rId19"/>
    <p:sldId id="276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74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066800"/>
            <a:ext cx="8686800" cy="3352800"/>
          </a:xfrm>
        </p:spPr>
        <p:txBody>
          <a:bodyPr>
            <a:noAutofit/>
          </a:bodyPr>
          <a:lstStyle/>
          <a:p>
            <a:r>
              <a:rPr lang="en-US" sz="3200" dirty="0">
                <a:latin typeface="+mn-lt"/>
                <a:cs typeface="Times New Roman" pitchFamily="18" charset="0"/>
              </a:rPr>
              <a:t>G</a:t>
            </a:r>
            <a:r>
              <a:rPr lang="en-US" sz="3200" dirty="0">
                <a:cs typeface="Times New Roman" pitchFamily="18" charset="0"/>
              </a:rPr>
              <a:t>I</a:t>
            </a:r>
            <a:r>
              <a:rPr lang="en-US" sz="3200" dirty="0">
                <a:latin typeface="+mn-lt"/>
                <a:cs typeface="Times New Roman" pitchFamily="18" charset="0"/>
              </a:rPr>
              <a:t>ẢI THUẬT VÀ CÀI ĐẶT</a:t>
            </a:r>
            <a:br>
              <a:rPr lang="en-US" sz="3200" dirty="0">
                <a:latin typeface="+mn-lt"/>
                <a:cs typeface="Times New Roman" pitchFamily="18" charset="0"/>
              </a:rPr>
            </a:br>
            <a:r>
              <a:rPr lang="en-US" sz="3200" dirty="0">
                <a:latin typeface="+mn-lt"/>
                <a:cs typeface="Times New Roman" pitchFamily="18" charset="0"/>
              </a:rPr>
              <a:t>CHƯƠNG TRÌNH SONG </a:t>
            </a:r>
            <a:r>
              <a:rPr lang="en-US" sz="3200" dirty="0" err="1">
                <a:latin typeface="+mn-lt"/>
                <a:cs typeface="Times New Roman" pitchFamily="18" charset="0"/>
              </a:rPr>
              <a:t>SONG</a:t>
            </a:r>
            <a:br>
              <a:rPr lang="en-US" sz="3600" dirty="0">
                <a:latin typeface="+mn-lt"/>
                <a:cs typeface="Times New Roman" pitchFamily="18" charset="0"/>
              </a:rPr>
            </a:br>
            <a:br>
              <a:rPr lang="en-US" sz="3600" dirty="0">
                <a:latin typeface="+mn-lt"/>
                <a:cs typeface="Times New Roman" pitchFamily="18" charset="0"/>
              </a:rPr>
            </a:br>
            <a:r>
              <a:rPr lang="en-US" sz="3600" dirty="0">
                <a:latin typeface="+mn-lt"/>
                <a:cs typeface="Times New Roman" pitchFamily="18" charset="0"/>
              </a:rPr>
              <a:t>BÀI TOÁN CÓ SỰ PHỤ THUỘC DỮ L</a:t>
            </a:r>
            <a:r>
              <a:rPr lang="en-US" sz="3600" dirty="0">
                <a:cs typeface="Times New Roman" pitchFamily="18" charset="0"/>
              </a:rPr>
              <a:t>I</a:t>
            </a:r>
            <a:r>
              <a:rPr lang="en-US" sz="3600" dirty="0">
                <a:latin typeface="+mn-lt"/>
                <a:cs typeface="Times New Roman" pitchFamily="18" charset="0"/>
              </a:rPr>
              <a:t>ỆU</a:t>
            </a:r>
            <a:br>
              <a:rPr lang="en-US" sz="3600" dirty="0">
                <a:latin typeface="+mn-lt"/>
                <a:cs typeface="Times New Roman" pitchFamily="18" charset="0"/>
              </a:rPr>
            </a:br>
            <a:r>
              <a:rPr lang="en-US" sz="3600" b="1" dirty="0">
                <a:latin typeface="+mn-lt"/>
                <a:cs typeface="Times New Roman" pitchFamily="18" charset="0"/>
              </a:rPr>
              <a:t>PHƯƠNG TRÌNH NHIỆT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+mn-lt"/>
              </a:rPr>
              <a:t>Mô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hình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toán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học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và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Phương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pháp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giải</a:t>
            </a:r>
            <a:endParaRPr lang="en-US" sz="36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763000" cy="5867400"/>
          </a:xfrm>
        </p:spPr>
        <p:txBody>
          <a:bodyPr>
            <a:normAutofit/>
          </a:bodyPr>
          <a:lstStyle/>
          <a:p>
            <a:r>
              <a:rPr lang="en-US" sz="2800" dirty="0" err="1"/>
              <a:t>Phương</a:t>
            </a:r>
            <a:r>
              <a:rPr lang="en-US" sz="2800" dirty="0"/>
              <a:t> </a:t>
            </a:r>
            <a:r>
              <a:rPr lang="en-US" sz="2800" dirty="0" err="1"/>
              <a:t>trình</a:t>
            </a:r>
            <a:r>
              <a:rPr lang="en-US" sz="2800" dirty="0"/>
              <a:t> </a:t>
            </a:r>
            <a:r>
              <a:rPr lang="en-US" sz="2800" dirty="0" err="1"/>
              <a:t>nhiệt</a:t>
            </a:r>
            <a:r>
              <a:rPr lang="en-US" sz="2800" dirty="0"/>
              <a:t> (PDE):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 err="1"/>
              <a:t>Công</a:t>
            </a:r>
            <a:r>
              <a:rPr lang="en-US" sz="2800" dirty="0"/>
              <a:t> </a:t>
            </a:r>
            <a:r>
              <a:rPr lang="en-US" sz="2800" dirty="0" err="1"/>
              <a:t>thức</a:t>
            </a:r>
            <a:r>
              <a:rPr lang="en-US" sz="2800" dirty="0"/>
              <a:t> </a:t>
            </a:r>
            <a:r>
              <a:rPr lang="en-US" sz="2800" dirty="0" err="1"/>
              <a:t>giải</a:t>
            </a:r>
            <a:endParaRPr lang="en-US" sz="2800" dirty="0"/>
          </a:p>
          <a:p>
            <a:pPr lvl="1"/>
            <a:r>
              <a:rPr lang="en-US" sz="2400" dirty="0" err="1"/>
              <a:t>Khởi</a:t>
            </a:r>
            <a:r>
              <a:rPr lang="en-US" sz="2400" dirty="0"/>
              <a:t> </a:t>
            </a:r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ban </a:t>
            </a:r>
            <a:r>
              <a:rPr lang="en-US" sz="2400" dirty="0" err="1"/>
              <a:t>đầu</a:t>
            </a:r>
            <a:r>
              <a:rPr lang="en-US" sz="2400" dirty="0"/>
              <a:t>:</a:t>
            </a:r>
          </a:p>
          <a:p>
            <a:pPr lvl="1"/>
            <a:r>
              <a:rPr lang="en-US" sz="2400" dirty="0" err="1"/>
              <a:t>Tại</a:t>
            </a:r>
            <a:r>
              <a:rPr lang="en-US" sz="2400" dirty="0"/>
              <a:t> </a:t>
            </a:r>
            <a:r>
              <a:rPr lang="en-US" sz="2400" dirty="0" err="1"/>
              <a:t>bước</a:t>
            </a:r>
            <a:r>
              <a:rPr lang="en-US" sz="2400" dirty="0"/>
              <a:t> n+1: 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r>
              <a:rPr lang="en-US" sz="2800" dirty="0" err="1"/>
              <a:t>Sự</a:t>
            </a:r>
            <a:r>
              <a:rPr lang="en-US" sz="2800" dirty="0"/>
              <a:t> </a:t>
            </a:r>
            <a:r>
              <a:rPr lang="en-US" sz="2800" dirty="0" err="1"/>
              <a:t>phụ</a:t>
            </a:r>
            <a:r>
              <a:rPr lang="en-US" sz="2800" dirty="0"/>
              <a:t> </a:t>
            </a:r>
            <a:r>
              <a:rPr lang="en-US" sz="2800" dirty="0" err="1"/>
              <a:t>thuộc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?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990600" y="1600200"/>
          <a:ext cx="2319338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Equation" r:id="rId3" imgW="1143000" imgH="863280" progId="Equation.3">
                  <p:embed/>
                </p:oleObj>
              </mc:Choice>
              <mc:Fallback>
                <p:oleObj name="Equation" r:id="rId3" imgW="1143000" imgH="8632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600200"/>
                        <a:ext cx="2319338" cy="175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191000" y="3911600"/>
          <a:ext cx="584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Equation" r:id="rId5" imgW="253800" imgH="253800" progId="Equation.3">
                  <p:embed/>
                </p:oleObj>
              </mc:Choice>
              <mc:Fallback>
                <p:oleObj name="Equation" r:id="rId5" imgW="253800" imgH="2538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911600"/>
                        <a:ext cx="584200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" name="Group 58"/>
          <p:cNvGrpSpPr/>
          <p:nvPr/>
        </p:nvGrpSpPr>
        <p:grpSpPr>
          <a:xfrm>
            <a:off x="5257800" y="1219200"/>
            <a:ext cx="3200400" cy="3571220"/>
            <a:chOff x="5257800" y="1219200"/>
            <a:chExt cx="3200400" cy="3571220"/>
          </a:xfrm>
        </p:grpSpPr>
        <p:sp>
          <p:nvSpPr>
            <p:cNvPr id="9" name="Rectangle 8"/>
            <p:cNvSpPr/>
            <p:nvPr/>
          </p:nvSpPr>
          <p:spPr>
            <a:xfrm>
              <a:off x="5257800" y="1219200"/>
              <a:ext cx="3200400" cy="2895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/>
            <p:cNvCxnSpPr/>
            <p:nvPr/>
          </p:nvCxnSpPr>
          <p:spPr>
            <a:xfrm rot="10800000" flipH="1">
              <a:off x="5257800" y="2667001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0800000" flipH="1">
              <a:off x="5257800" y="2970212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10800000" flipH="1">
              <a:off x="5257800" y="3579812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 flipH="1">
              <a:off x="5257800" y="3275012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 flipH="1">
              <a:off x="5257800" y="3884612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 flipH="1">
              <a:off x="5257800" y="1446212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 flipH="1">
              <a:off x="5257800" y="2055812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 flipH="1">
              <a:off x="5257800" y="1751012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10800000" flipH="1">
              <a:off x="5257800" y="2360612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16200000" flipH="1">
              <a:off x="5435928" y="2819002"/>
              <a:ext cx="3199606" cy="1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16200000" flipH="1">
              <a:off x="5942805" y="2666206"/>
              <a:ext cx="28956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16200000" flipH="1">
              <a:off x="6323805" y="2666206"/>
              <a:ext cx="28956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rot="16200000" flipH="1">
              <a:off x="6704806" y="2666206"/>
              <a:ext cx="28956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16200000" flipH="1">
              <a:off x="4876006" y="2667000"/>
              <a:ext cx="28956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16200000" flipH="1">
              <a:off x="5104606" y="2818606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16200000" flipH="1">
              <a:off x="4114006" y="2667001"/>
              <a:ext cx="28956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16200000" flipH="1">
              <a:off x="4495006" y="2666207"/>
              <a:ext cx="28956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6692537" y="4280263"/>
              <a:ext cx="381000" cy="1588"/>
            </a:xfrm>
            <a:prstGeom prst="straightConnector1">
              <a:avLst/>
            </a:prstGeom>
            <a:ln w="254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6629400" y="4267200"/>
              <a:ext cx="533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 err="1"/>
                <a:t>dx</a:t>
              </a:r>
              <a:endParaRPr lang="en-US" sz="2800" i="1" dirty="0"/>
            </a:p>
          </p:txBody>
        </p:sp>
        <p:sp>
          <p:nvSpPr>
            <p:cNvPr id="40" name="Oval 39"/>
            <p:cNvSpPr/>
            <p:nvPr/>
          </p:nvSpPr>
          <p:spPr>
            <a:xfrm>
              <a:off x="6973389" y="2575559"/>
              <a:ext cx="152400" cy="1524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7321734" y="2882537"/>
              <a:ext cx="152400" cy="15240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6984274" y="3189515"/>
              <a:ext cx="152400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6640285" y="2893422"/>
              <a:ext cx="152400" cy="1524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6971211" y="2882537"/>
              <a:ext cx="152400" cy="152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543800" y="4267200"/>
              <a:ext cx="762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i="1" dirty="0">
                  <a:solidFill>
                    <a:srgbClr val="FF0000"/>
                  </a:solidFill>
                </a:rPr>
                <a:t>(</a:t>
              </a:r>
              <a:r>
                <a:rPr lang="en-US" sz="2800" i="1" dirty="0" err="1">
                  <a:solidFill>
                    <a:srgbClr val="FF0000"/>
                  </a:solidFill>
                </a:rPr>
                <a:t>i,j</a:t>
              </a:r>
              <a:r>
                <a:rPr lang="en-US" sz="2800" i="1" dirty="0">
                  <a:solidFill>
                    <a:srgbClr val="FF0000"/>
                  </a:solidFill>
                </a:rPr>
                <a:t>)</a:t>
              </a:r>
            </a:p>
          </p:txBody>
        </p:sp>
        <p:cxnSp>
          <p:nvCxnSpPr>
            <p:cNvPr id="54" name="Straight Arrow Connector 53"/>
            <p:cNvCxnSpPr/>
            <p:nvPr/>
          </p:nvCxnSpPr>
          <p:spPr>
            <a:xfrm rot="16200000" flipV="1">
              <a:off x="6901542" y="3254827"/>
              <a:ext cx="1219200" cy="827315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/>
          <p:cNvGrpSpPr/>
          <p:nvPr/>
        </p:nvGrpSpPr>
        <p:grpSpPr>
          <a:xfrm>
            <a:off x="896938" y="4724400"/>
            <a:ext cx="7267575" cy="976313"/>
            <a:chOff x="896938" y="4814888"/>
            <a:chExt cx="7267575" cy="976313"/>
          </a:xfrm>
        </p:grpSpPr>
        <p:graphicFrame>
          <p:nvGraphicFramePr>
            <p:cNvPr id="5" name="Object 4"/>
            <p:cNvGraphicFramePr>
              <a:graphicFrameLocks noChangeAspect="1"/>
            </p:cNvGraphicFramePr>
            <p:nvPr/>
          </p:nvGraphicFramePr>
          <p:xfrm>
            <a:off x="896938" y="4814888"/>
            <a:ext cx="7267575" cy="976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" name="Equation" r:id="rId7" imgW="3213000" imgH="431640" progId="Equation.3">
                    <p:embed/>
                  </p:oleObj>
                </mc:Choice>
                <mc:Fallback>
                  <p:oleObj name="Equation" r:id="rId7" imgW="3213000" imgH="43164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6938" y="4814888"/>
                          <a:ext cx="7267575" cy="9763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" name="Rectangle 44"/>
            <p:cNvSpPr/>
            <p:nvPr/>
          </p:nvSpPr>
          <p:spPr>
            <a:xfrm>
              <a:off x="7633063" y="5066211"/>
              <a:ext cx="381000" cy="304800"/>
            </a:xfrm>
            <a:prstGeom prst="rect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507378" y="5068389"/>
              <a:ext cx="581296" cy="278674"/>
            </a:xfrm>
            <a:prstGeom prst="rect">
              <a:avLst/>
            </a:prstGeom>
            <a:noFill/>
            <a:ln w="317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524104" y="5068389"/>
              <a:ext cx="581296" cy="278674"/>
            </a:xfrm>
            <a:prstGeom prst="rect">
              <a:avLst/>
            </a:prstGeom>
            <a:noFill/>
            <a:ln w="317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514704" y="5066211"/>
              <a:ext cx="581296" cy="278674"/>
            </a:xfrm>
            <a:prstGeom prst="rect">
              <a:avLst/>
            </a:prstGeom>
            <a:noFill/>
            <a:ln w="317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505304" y="5068389"/>
              <a:ext cx="581296" cy="278674"/>
            </a:xfrm>
            <a:prstGeom prst="rect">
              <a:avLst/>
            </a:prstGeom>
            <a:noFill/>
            <a:ln w="317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497874" y="5360126"/>
              <a:ext cx="381000" cy="304800"/>
            </a:xfrm>
            <a:prstGeom prst="rect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2503715" y="5349241"/>
              <a:ext cx="381000" cy="304800"/>
            </a:xfrm>
            <a:prstGeom prst="rect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911225" y="5562600"/>
            <a:ext cx="4046538" cy="636588"/>
            <a:chOff x="911225" y="5992813"/>
            <a:chExt cx="4046538" cy="636588"/>
          </a:xfrm>
        </p:grpSpPr>
        <p:graphicFrame>
          <p:nvGraphicFramePr>
            <p:cNvPr id="6" name="Object 5"/>
            <p:cNvGraphicFramePr>
              <a:graphicFrameLocks noChangeAspect="1"/>
            </p:cNvGraphicFramePr>
            <p:nvPr/>
          </p:nvGraphicFramePr>
          <p:xfrm>
            <a:off x="911225" y="5992813"/>
            <a:ext cx="4046538" cy="636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7" name="Equation" r:id="rId9" imgW="1612800" imgH="253800" progId="Equation.3">
                    <p:embed/>
                  </p:oleObj>
                </mc:Choice>
                <mc:Fallback>
                  <p:oleObj name="Equation" r:id="rId9" imgW="1612800" imgH="25380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1225" y="5992813"/>
                          <a:ext cx="4046538" cy="6365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" name="Rectangle 45"/>
            <p:cNvSpPr/>
            <p:nvPr/>
          </p:nvSpPr>
          <p:spPr>
            <a:xfrm>
              <a:off x="1219200" y="6300652"/>
              <a:ext cx="381000" cy="304800"/>
            </a:xfrm>
            <a:prstGeom prst="rect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286000" y="6298474"/>
              <a:ext cx="381000" cy="304800"/>
            </a:xfrm>
            <a:prstGeom prst="rect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572000" y="6298474"/>
              <a:ext cx="381000" cy="304800"/>
            </a:xfrm>
            <a:prstGeom prst="rect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+mn-lt"/>
              </a:rPr>
              <a:t>Sự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phụ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thuộc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dữ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liệu</a:t>
            </a:r>
            <a:endParaRPr lang="en-US" sz="36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Việc</a:t>
            </a:r>
            <a:r>
              <a:rPr lang="en-US" sz="2800" dirty="0"/>
              <a:t>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</a:t>
            </a:r>
            <a:r>
              <a:rPr lang="en-US" sz="2800" dirty="0" err="1"/>
              <a:t>tại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điểm</a:t>
            </a:r>
            <a:r>
              <a:rPr lang="en-US" sz="2800" dirty="0"/>
              <a:t> </a:t>
            </a:r>
            <a:r>
              <a:rPr lang="en-US" sz="2800" dirty="0" err="1"/>
              <a:t>lưới</a:t>
            </a:r>
            <a:r>
              <a:rPr lang="en-US" sz="2800" dirty="0"/>
              <a:t> (</a:t>
            </a:r>
            <a:r>
              <a:rPr lang="en-US" sz="2800" dirty="0" err="1"/>
              <a:t>i,j</a:t>
            </a:r>
            <a:r>
              <a:rPr lang="en-US" sz="2800" dirty="0"/>
              <a:t>) </a:t>
            </a:r>
            <a:r>
              <a:rPr lang="en-US" sz="2800" dirty="0" err="1"/>
              <a:t>cần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tin </a:t>
            </a:r>
            <a:r>
              <a:rPr lang="en-US" sz="2800" dirty="0" err="1"/>
              <a:t>tại</a:t>
            </a:r>
            <a:r>
              <a:rPr lang="en-US" sz="2800" dirty="0"/>
              <a:t> </a:t>
            </a:r>
            <a:r>
              <a:rPr lang="en-US" sz="2800" dirty="0" err="1"/>
              <a:t>những</a:t>
            </a:r>
            <a:r>
              <a:rPr lang="en-US" sz="2800" dirty="0"/>
              <a:t> </a:t>
            </a:r>
            <a:r>
              <a:rPr lang="en-US" sz="2800" dirty="0" err="1"/>
              <a:t>điểm</a:t>
            </a:r>
            <a:r>
              <a:rPr lang="en-US" sz="2800" dirty="0"/>
              <a:t> </a:t>
            </a:r>
            <a:r>
              <a:rPr lang="en-US" sz="2800" dirty="0" err="1"/>
              <a:t>lưới</a:t>
            </a:r>
            <a:r>
              <a:rPr lang="en-US" sz="2800" dirty="0"/>
              <a:t> </a:t>
            </a:r>
            <a:r>
              <a:rPr lang="en-US" sz="2800" dirty="0" err="1"/>
              <a:t>xung</a:t>
            </a:r>
            <a:r>
              <a:rPr lang="en-US" sz="2800" dirty="0"/>
              <a:t> </a:t>
            </a:r>
            <a:r>
              <a:rPr lang="en-US" sz="2800" dirty="0" err="1"/>
              <a:t>quanh</a:t>
            </a:r>
            <a:r>
              <a:rPr lang="en-US" sz="2800" dirty="0"/>
              <a:t>: (i-1,j), (i+1,j) , (i,j-1) , (i,j+1) </a:t>
            </a:r>
            <a:r>
              <a:rPr lang="en-US" sz="2800" dirty="0" err="1"/>
              <a:t>gọi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sự</a:t>
            </a:r>
            <a:r>
              <a:rPr lang="en-US" sz="2800" dirty="0"/>
              <a:t> </a:t>
            </a:r>
            <a:r>
              <a:rPr lang="en-US" sz="2800" dirty="0" err="1"/>
              <a:t>phụ</a:t>
            </a:r>
            <a:r>
              <a:rPr lang="en-US" sz="2800" dirty="0"/>
              <a:t> </a:t>
            </a:r>
            <a:r>
              <a:rPr lang="en-US" sz="2800" dirty="0" err="1"/>
              <a:t>thuộc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.</a:t>
            </a:r>
          </a:p>
          <a:p>
            <a:pPr lvl="1"/>
            <a:r>
              <a:rPr lang="en-US" sz="2400" dirty="0" err="1"/>
              <a:t>Đối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chương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> </a:t>
            </a:r>
            <a:r>
              <a:rPr lang="en-US" sz="2400" dirty="0" err="1"/>
              <a:t>tuần</a:t>
            </a:r>
            <a:r>
              <a:rPr lang="en-US" sz="2400" dirty="0"/>
              <a:t> </a:t>
            </a:r>
            <a:r>
              <a:rPr lang="en-US" sz="2400" dirty="0" err="1"/>
              <a:t>tự</a:t>
            </a:r>
            <a:r>
              <a:rPr lang="en-US" sz="2400" dirty="0"/>
              <a:t>: </a:t>
            </a:r>
            <a:r>
              <a:rPr lang="en-US" sz="2400" dirty="0" err="1"/>
              <a:t>Cần</a:t>
            </a:r>
            <a:r>
              <a:rPr lang="en-US" sz="2400" dirty="0"/>
              <a:t> </a:t>
            </a:r>
            <a:r>
              <a:rPr lang="en-US" sz="2400" dirty="0" err="1"/>
              <a:t>điều</a:t>
            </a:r>
            <a:r>
              <a:rPr lang="en-US" sz="2400" dirty="0"/>
              <a:t> </a:t>
            </a:r>
            <a:r>
              <a:rPr lang="en-US" sz="2400" dirty="0" err="1"/>
              <a:t>kiện</a:t>
            </a:r>
            <a:r>
              <a:rPr lang="en-US" sz="2400" dirty="0"/>
              <a:t> </a:t>
            </a:r>
            <a:r>
              <a:rPr lang="en-US" sz="2400" dirty="0" err="1"/>
              <a:t>biên</a:t>
            </a:r>
            <a:endParaRPr lang="en-US" sz="2400" dirty="0"/>
          </a:p>
          <a:p>
            <a:pPr lvl="1"/>
            <a:r>
              <a:rPr lang="en-US" sz="2400" dirty="0" err="1"/>
              <a:t>Đối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chương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> song </a:t>
            </a:r>
            <a:r>
              <a:rPr lang="en-US" sz="2400" dirty="0" err="1"/>
              <a:t>song</a:t>
            </a:r>
            <a:r>
              <a:rPr lang="en-US" sz="2400" dirty="0"/>
              <a:t> (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nhớ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tán</a:t>
            </a:r>
            <a:r>
              <a:rPr lang="en-US" sz="2400" dirty="0"/>
              <a:t>): </a:t>
            </a:r>
            <a:r>
              <a:rPr lang="en-US" sz="2400" dirty="0" err="1"/>
              <a:t>Cần</a:t>
            </a:r>
            <a:r>
              <a:rPr lang="en-US" sz="2400" dirty="0"/>
              <a:t> </a:t>
            </a:r>
            <a:r>
              <a:rPr lang="en-US" sz="2400" dirty="0" err="1"/>
              <a:t>trao</a:t>
            </a:r>
            <a:r>
              <a:rPr lang="en-US" sz="2400" dirty="0"/>
              <a:t> </a:t>
            </a:r>
            <a:r>
              <a:rPr lang="en-US" sz="2400" dirty="0" err="1"/>
              <a:t>đổi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r>
              <a:rPr lang="en-US" sz="2400" dirty="0"/>
              <a:t> tin (</a:t>
            </a:r>
            <a:r>
              <a:rPr lang="en-US" sz="2400" dirty="0" err="1"/>
              <a:t>truyền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r>
              <a:rPr lang="en-US" sz="2400" dirty="0"/>
              <a:t>) </a:t>
            </a:r>
            <a:r>
              <a:rPr lang="en-US" sz="2400" dirty="0" err="1"/>
              <a:t>giữa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CPU, </a:t>
            </a:r>
            <a:r>
              <a:rPr lang="en-US" sz="2400" dirty="0" err="1"/>
              <a:t>cần</a:t>
            </a:r>
            <a:r>
              <a:rPr lang="en-US" sz="2400" dirty="0"/>
              <a:t> </a:t>
            </a:r>
            <a:r>
              <a:rPr lang="en-US" sz="2400" dirty="0" err="1"/>
              <a:t>đồng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+mn-lt"/>
              </a:rPr>
              <a:t>Mô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hình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toán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học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và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Phương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pháp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giải</a:t>
            </a:r>
            <a:endParaRPr lang="en-US" sz="36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3124200" cy="3810000"/>
          </a:xfrm>
        </p:spPr>
        <p:txBody>
          <a:bodyPr>
            <a:normAutofit/>
          </a:bodyPr>
          <a:lstStyle/>
          <a:p>
            <a:r>
              <a:rPr lang="en-US" sz="2800" dirty="0" err="1"/>
              <a:t>Ký</a:t>
            </a:r>
            <a:r>
              <a:rPr lang="en-US" sz="2800" dirty="0"/>
              <a:t> </a:t>
            </a:r>
            <a:r>
              <a:rPr lang="en-US" sz="2800" dirty="0" err="1"/>
              <a:t>hiệu</a:t>
            </a:r>
            <a:r>
              <a:rPr lang="en-US" sz="2800" dirty="0"/>
              <a:t>: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552575" y="2320925"/>
          <a:ext cx="1952625" cy="278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Equation" r:id="rId3" imgW="863280" imgH="1231560" progId="Equation.3">
                  <p:embed/>
                </p:oleObj>
              </mc:Choice>
              <mc:Fallback>
                <p:oleObj name="Equation" r:id="rId3" imgW="863280" imgH="12315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575" y="2320925"/>
                        <a:ext cx="1952625" cy="2784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up 19"/>
          <p:cNvGrpSpPr/>
          <p:nvPr/>
        </p:nvGrpSpPr>
        <p:grpSpPr>
          <a:xfrm>
            <a:off x="4267200" y="1524000"/>
            <a:ext cx="3048000" cy="3124200"/>
            <a:chOff x="4267200" y="1524000"/>
            <a:chExt cx="3048000" cy="3124200"/>
          </a:xfrm>
        </p:grpSpPr>
        <p:sp>
          <p:nvSpPr>
            <p:cNvPr id="40" name="Oval 39"/>
            <p:cNvSpPr/>
            <p:nvPr/>
          </p:nvSpPr>
          <p:spPr>
            <a:xfrm>
              <a:off x="5747655" y="2590800"/>
              <a:ext cx="152400" cy="1524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6248400" y="3045822"/>
              <a:ext cx="152400" cy="15240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5758540" y="3505200"/>
              <a:ext cx="152400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5257800" y="3056707"/>
              <a:ext cx="152400" cy="1524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5745477" y="3045822"/>
              <a:ext cx="152400" cy="15240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477000" y="2067580"/>
              <a:ext cx="457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i="1" dirty="0"/>
                <a:t>c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625737" y="1524000"/>
              <a:ext cx="457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i="1" dirty="0"/>
                <a:t>u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599611" y="4124980"/>
              <a:ext cx="457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i="1" dirty="0"/>
                <a:t>d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858000" y="2829580"/>
              <a:ext cx="457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i="1" dirty="0"/>
                <a:t>r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267200" y="2845526"/>
              <a:ext cx="457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i="1" dirty="0"/>
                <a:t>l</a:t>
              </a:r>
            </a:p>
          </p:txBody>
        </p:sp>
        <p:cxnSp>
          <p:nvCxnSpPr>
            <p:cNvPr id="63" name="Straight Arrow Connector 62"/>
            <p:cNvCxnSpPr/>
            <p:nvPr/>
          </p:nvCxnSpPr>
          <p:spPr>
            <a:xfrm flipV="1">
              <a:off x="5943600" y="2514600"/>
              <a:ext cx="609600" cy="5334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6400800" y="3124200"/>
              <a:ext cx="457200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 rot="5400000" flipH="1" flipV="1">
              <a:off x="5523411" y="2286000"/>
              <a:ext cx="609600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 rot="16200000" flipH="1">
              <a:off x="5507083" y="3913414"/>
              <a:ext cx="653143" cy="1088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 rot="10800000" flipV="1">
              <a:off x="4572000" y="3135085"/>
              <a:ext cx="735874" cy="2612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458200" cy="990600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+mn-lt"/>
              </a:rPr>
              <a:t>Cài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đặt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hàm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rời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rạc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hóa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theo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không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gian</a:t>
            </a:r>
            <a:r>
              <a:rPr lang="en-US" sz="3600" dirty="0">
                <a:latin typeface="+mn-lt"/>
              </a:rPr>
              <a:t>: FD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4800" y="1828800"/>
            <a:ext cx="58674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void FD(float *C, float *</a:t>
            </a:r>
            <a:r>
              <a:rPr lang="en-US" sz="2200" b="1" dirty="0" err="1"/>
              <a:t>dC</a:t>
            </a:r>
            <a:r>
              <a:rPr lang="en-US" sz="2200" b="1" dirty="0"/>
              <a:t>) </a:t>
            </a:r>
            <a:r>
              <a:rPr lang="en-US" sz="2200" dirty="0"/>
              <a:t>{</a:t>
            </a:r>
          </a:p>
          <a:p>
            <a:r>
              <a:rPr lang="en-US" sz="2200" dirty="0" err="1"/>
              <a:t>int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, j;</a:t>
            </a:r>
          </a:p>
          <a:p>
            <a:r>
              <a:rPr lang="en-US" sz="2200" dirty="0"/>
              <a:t>float </a:t>
            </a:r>
            <a:r>
              <a:rPr lang="en-US" sz="2200" dirty="0" err="1"/>
              <a:t>c,u,d,l,r</a:t>
            </a:r>
            <a:r>
              <a:rPr lang="en-US" sz="2200" dirty="0"/>
              <a:t>;</a:t>
            </a:r>
          </a:p>
          <a:p>
            <a:r>
              <a:rPr lang="nn-NO" sz="2200" dirty="0"/>
              <a:t>for (  i = 0 ; i &lt; m ; i++ )</a:t>
            </a:r>
          </a:p>
          <a:p>
            <a:r>
              <a:rPr lang="en-US" sz="2200" dirty="0"/>
              <a:t>  for ( j = 0 ; j &lt; n ; j++ )</a:t>
            </a:r>
          </a:p>
          <a:p>
            <a:r>
              <a:rPr lang="en-US" sz="2200" dirty="0"/>
              <a:t>    {</a:t>
            </a:r>
          </a:p>
          <a:p>
            <a:r>
              <a:rPr lang="en-US" sz="2200" dirty="0"/>
              <a:t>      c = </a:t>
            </a:r>
            <a:r>
              <a:rPr lang="en-US" sz="2200" dirty="0">
                <a:solidFill>
                  <a:srgbClr val="FF0000"/>
                </a:solidFill>
              </a:rPr>
              <a:t>*(</a:t>
            </a:r>
            <a:r>
              <a:rPr lang="en-US" sz="2200" dirty="0" err="1">
                <a:solidFill>
                  <a:srgbClr val="FF0000"/>
                </a:solidFill>
              </a:rPr>
              <a:t>C+i</a:t>
            </a:r>
            <a:r>
              <a:rPr lang="en-US" sz="2200" dirty="0">
                <a:solidFill>
                  <a:srgbClr val="FF0000"/>
                </a:solidFill>
              </a:rPr>
              <a:t>*</a:t>
            </a:r>
            <a:r>
              <a:rPr lang="en-US" sz="2200" dirty="0" err="1">
                <a:solidFill>
                  <a:srgbClr val="FF0000"/>
                </a:solidFill>
              </a:rPr>
              <a:t>n+j</a:t>
            </a:r>
            <a:r>
              <a:rPr lang="en-US" sz="2200" dirty="0">
                <a:solidFill>
                  <a:srgbClr val="FF0000"/>
                </a:solidFill>
              </a:rPr>
              <a:t>)</a:t>
            </a:r>
            <a:r>
              <a:rPr lang="en-US" sz="2200" dirty="0"/>
              <a:t>;</a:t>
            </a:r>
          </a:p>
          <a:p>
            <a:r>
              <a:rPr lang="en-US" sz="2200" dirty="0"/>
              <a:t>      u = (</a:t>
            </a:r>
            <a:r>
              <a:rPr lang="en-US" sz="2200" dirty="0" err="1"/>
              <a:t>i</a:t>
            </a:r>
            <a:r>
              <a:rPr lang="en-US" sz="2200" dirty="0"/>
              <a:t>==0)	  ? </a:t>
            </a:r>
            <a:r>
              <a:rPr lang="en-US" sz="2200" dirty="0">
                <a:solidFill>
                  <a:srgbClr val="FF0000"/>
                </a:solidFill>
              </a:rPr>
              <a:t>*(</a:t>
            </a:r>
            <a:r>
              <a:rPr lang="en-US" sz="2200" dirty="0" err="1">
                <a:solidFill>
                  <a:srgbClr val="FF0000"/>
                </a:solidFill>
              </a:rPr>
              <a:t>C+i</a:t>
            </a:r>
            <a:r>
              <a:rPr lang="en-US" sz="2200" dirty="0">
                <a:solidFill>
                  <a:srgbClr val="FF0000"/>
                </a:solidFill>
              </a:rPr>
              <a:t>*</a:t>
            </a:r>
            <a:r>
              <a:rPr lang="en-US" sz="2200" dirty="0" err="1">
                <a:solidFill>
                  <a:srgbClr val="FF0000"/>
                </a:solidFill>
              </a:rPr>
              <a:t>n+j</a:t>
            </a:r>
            <a:r>
              <a:rPr lang="en-US" sz="2200" dirty="0">
                <a:solidFill>
                  <a:srgbClr val="FF0000"/>
                </a:solidFill>
              </a:rPr>
              <a:t>) </a:t>
            </a:r>
            <a:r>
              <a:rPr lang="en-US" sz="2200" dirty="0"/>
              <a:t>: </a:t>
            </a:r>
            <a:r>
              <a:rPr lang="en-US" sz="2200" dirty="0">
                <a:solidFill>
                  <a:schemeClr val="accent2"/>
                </a:solidFill>
              </a:rPr>
              <a:t>*(C+(i-1)*</a:t>
            </a:r>
            <a:r>
              <a:rPr lang="en-US" sz="2200" dirty="0" err="1">
                <a:solidFill>
                  <a:schemeClr val="accent2"/>
                </a:solidFill>
              </a:rPr>
              <a:t>n+j</a:t>
            </a:r>
            <a:r>
              <a:rPr lang="en-US" sz="2200" dirty="0">
                <a:solidFill>
                  <a:schemeClr val="accent2"/>
                </a:solidFill>
              </a:rPr>
              <a:t>)</a:t>
            </a:r>
            <a:r>
              <a:rPr lang="en-US" sz="2200" dirty="0"/>
              <a:t>;</a:t>
            </a:r>
          </a:p>
          <a:p>
            <a:r>
              <a:rPr lang="pt-BR" sz="2200" dirty="0"/>
              <a:t>      d = (i==m-1) ? </a:t>
            </a:r>
            <a:r>
              <a:rPr lang="pt-BR" sz="2200" dirty="0">
                <a:solidFill>
                  <a:srgbClr val="FF0000"/>
                </a:solidFill>
              </a:rPr>
              <a:t>*(C+i*n+j) </a:t>
            </a:r>
            <a:r>
              <a:rPr lang="pt-BR" sz="2200" dirty="0"/>
              <a:t>: </a:t>
            </a:r>
            <a:r>
              <a:rPr lang="pt-BR" sz="2200" dirty="0">
                <a:solidFill>
                  <a:srgbClr val="FFC000"/>
                </a:solidFill>
              </a:rPr>
              <a:t>*(C+(i+1)*n+j);</a:t>
            </a:r>
          </a:p>
          <a:p>
            <a:r>
              <a:rPr lang="pt-BR" sz="2200" dirty="0"/>
              <a:t>      l = (j==0)      ? </a:t>
            </a:r>
            <a:r>
              <a:rPr lang="pt-BR" sz="2200" dirty="0">
                <a:solidFill>
                  <a:srgbClr val="FF0000"/>
                </a:solidFill>
              </a:rPr>
              <a:t>*(C+i*n+j) </a:t>
            </a:r>
            <a:r>
              <a:rPr lang="pt-BR" sz="2200" dirty="0"/>
              <a:t>: </a:t>
            </a:r>
            <a:r>
              <a:rPr lang="pt-BR" sz="2200" dirty="0">
                <a:solidFill>
                  <a:srgbClr val="00B050"/>
                </a:solidFill>
              </a:rPr>
              <a:t>*(C+i*n+j-1)</a:t>
            </a:r>
            <a:r>
              <a:rPr lang="pt-BR" sz="2200" dirty="0"/>
              <a:t>;</a:t>
            </a:r>
          </a:p>
          <a:p>
            <a:r>
              <a:rPr lang="pt-BR" sz="2200" dirty="0"/>
              <a:t>      r = (j==n-1)  ? </a:t>
            </a:r>
            <a:r>
              <a:rPr lang="pt-BR" sz="2200" dirty="0">
                <a:solidFill>
                  <a:srgbClr val="FF0000"/>
                </a:solidFill>
              </a:rPr>
              <a:t>*(C+i*n+j) </a:t>
            </a:r>
            <a:r>
              <a:rPr lang="pt-BR" sz="2200" dirty="0"/>
              <a:t>: </a:t>
            </a:r>
            <a:r>
              <a:rPr lang="pt-BR" sz="2200" dirty="0">
                <a:solidFill>
                  <a:srgbClr val="7030A0"/>
                </a:solidFill>
              </a:rPr>
              <a:t>*(C+i*n+j+1</a:t>
            </a:r>
            <a:r>
              <a:rPr lang="pt-BR" sz="2200" dirty="0"/>
              <a:t>);</a:t>
            </a:r>
          </a:p>
          <a:p>
            <a:r>
              <a:rPr lang="en-US" sz="2200" dirty="0"/>
              <a:t>      *(</a:t>
            </a:r>
            <a:r>
              <a:rPr lang="en-US" sz="2200" dirty="0" err="1"/>
              <a:t>dC+i</a:t>
            </a:r>
            <a:r>
              <a:rPr lang="en-US" sz="2200" dirty="0"/>
              <a:t>*</a:t>
            </a:r>
            <a:r>
              <a:rPr lang="en-US" sz="2200" dirty="0" err="1"/>
              <a:t>n+j</a:t>
            </a:r>
            <a:r>
              <a:rPr lang="en-US" sz="2200" dirty="0"/>
              <a:t>) = (1/(</a:t>
            </a:r>
            <a:r>
              <a:rPr lang="en-US" sz="2200" dirty="0" err="1"/>
              <a:t>dx</a:t>
            </a:r>
            <a:r>
              <a:rPr lang="en-US" sz="2200" dirty="0"/>
              <a:t>*</a:t>
            </a:r>
            <a:r>
              <a:rPr lang="en-US" sz="2200" dirty="0" err="1"/>
              <a:t>dx</a:t>
            </a:r>
            <a:r>
              <a:rPr lang="en-US" sz="2200" dirty="0"/>
              <a:t>))*(u+d+l+r-4*c);</a:t>
            </a:r>
          </a:p>
          <a:p>
            <a:r>
              <a:rPr lang="en-US" sz="2200" dirty="0"/>
              <a:t>    }</a:t>
            </a:r>
          </a:p>
          <a:p>
            <a:r>
              <a:rPr lang="en-US" sz="2200" dirty="0"/>
              <a:t>}</a:t>
            </a:r>
          </a:p>
        </p:txBody>
      </p:sp>
      <p:grpSp>
        <p:nvGrpSpPr>
          <p:cNvPr id="68" name="Group 67"/>
          <p:cNvGrpSpPr/>
          <p:nvPr/>
        </p:nvGrpSpPr>
        <p:grpSpPr>
          <a:xfrm>
            <a:off x="1125538" y="990600"/>
            <a:ext cx="6951662" cy="762000"/>
            <a:chOff x="896938" y="4814888"/>
            <a:chExt cx="7269826" cy="976312"/>
          </a:xfrm>
        </p:grpSpPr>
        <p:graphicFrame>
          <p:nvGraphicFramePr>
            <p:cNvPr id="69" name="Object 68"/>
            <p:cNvGraphicFramePr>
              <a:graphicFrameLocks noChangeAspect="1"/>
            </p:cNvGraphicFramePr>
            <p:nvPr/>
          </p:nvGraphicFramePr>
          <p:xfrm>
            <a:off x="896938" y="4814888"/>
            <a:ext cx="7269826" cy="976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2" name="Equation" r:id="rId3" imgW="3213000" imgH="431640" progId="Equation.3">
                    <p:embed/>
                  </p:oleObj>
                </mc:Choice>
                <mc:Fallback>
                  <p:oleObj name="Equation" r:id="rId3" imgW="3213000" imgH="43164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6938" y="4814888"/>
                          <a:ext cx="7269826" cy="976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0" name="Rectangle 69"/>
            <p:cNvSpPr/>
            <p:nvPr/>
          </p:nvSpPr>
          <p:spPr>
            <a:xfrm>
              <a:off x="7633063" y="5066211"/>
              <a:ext cx="381000" cy="304800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507378" y="5068389"/>
              <a:ext cx="581296" cy="278674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524104" y="5068389"/>
              <a:ext cx="581296" cy="278674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5514704" y="5066211"/>
              <a:ext cx="581296" cy="278674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505304" y="5068389"/>
              <a:ext cx="581296" cy="278674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497874" y="5360126"/>
              <a:ext cx="381000" cy="304800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2503715" y="5349241"/>
              <a:ext cx="381000" cy="304800"/>
            </a:xfrm>
            <a:prstGeom prst="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1" name="Group 140"/>
          <p:cNvGrpSpPr/>
          <p:nvPr/>
        </p:nvGrpSpPr>
        <p:grpSpPr>
          <a:xfrm>
            <a:off x="5486400" y="2261938"/>
            <a:ext cx="3444241" cy="4215062"/>
            <a:chOff x="5599611" y="1580603"/>
            <a:chExt cx="3444241" cy="4215062"/>
          </a:xfrm>
        </p:grpSpPr>
        <p:grpSp>
          <p:nvGrpSpPr>
            <p:cNvPr id="125" name="Group 124"/>
            <p:cNvGrpSpPr/>
            <p:nvPr/>
          </p:nvGrpSpPr>
          <p:grpSpPr>
            <a:xfrm>
              <a:off x="5599611" y="1580603"/>
              <a:ext cx="3444241" cy="3296197"/>
              <a:chOff x="5599611" y="1580603"/>
              <a:chExt cx="3444241" cy="3296197"/>
            </a:xfrm>
          </p:grpSpPr>
          <p:sp>
            <p:nvSpPr>
              <p:cNvPr id="78" name="Rectangle 77"/>
              <p:cNvSpPr/>
              <p:nvPr/>
            </p:nvSpPr>
            <p:spPr>
              <a:xfrm>
                <a:off x="5943600" y="1905000"/>
                <a:ext cx="2743200" cy="240958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9" name="Straight Connector 78"/>
              <p:cNvCxnSpPr/>
              <p:nvPr/>
            </p:nvCxnSpPr>
            <p:spPr>
              <a:xfrm rot="10800000" flipH="1">
                <a:off x="5943600" y="3109791"/>
                <a:ext cx="2743200" cy="132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 rot="10800000" flipH="1">
                <a:off x="5943600" y="3362109"/>
                <a:ext cx="2743200" cy="132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10800000" flipH="1">
                <a:off x="5943600" y="3869389"/>
                <a:ext cx="2743200" cy="132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10800000" flipH="1">
                <a:off x="5943600" y="3615749"/>
                <a:ext cx="2743200" cy="132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10800000" flipH="1">
                <a:off x="5943600" y="4123030"/>
                <a:ext cx="2743200" cy="132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10800000" flipH="1">
                <a:off x="5943600" y="2093909"/>
                <a:ext cx="2743200" cy="132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10800000" flipH="1">
                <a:off x="5943600" y="2601189"/>
                <a:ext cx="2743200" cy="132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10800000" flipH="1">
                <a:off x="5943600" y="2347549"/>
                <a:ext cx="2743200" cy="132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10800000" flipH="1">
                <a:off x="5943600" y="2854829"/>
                <a:ext cx="2743200" cy="132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16200000" flipH="1">
                <a:off x="6136261" y="3236260"/>
                <a:ext cx="2662560" cy="136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16200000" flipH="1">
                <a:off x="6566928" y="3109110"/>
                <a:ext cx="2409581" cy="13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16200000" flipH="1">
                <a:off x="6893499" y="3109110"/>
                <a:ext cx="2409581" cy="13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16200000" flipH="1">
                <a:off x="7220072" y="3109110"/>
                <a:ext cx="2409581" cy="13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16200000" flipH="1">
                <a:off x="5652529" y="3109771"/>
                <a:ext cx="2409581" cy="13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16200000" flipH="1">
                <a:off x="5852280" y="3235930"/>
                <a:ext cx="2663221" cy="13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16200000" flipH="1">
                <a:off x="4999386" y="3109772"/>
                <a:ext cx="2409581" cy="13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16200000" flipH="1">
                <a:off x="5325957" y="3109111"/>
                <a:ext cx="2409581" cy="136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/>
              <p:cNvCxnSpPr/>
              <p:nvPr/>
            </p:nvCxnSpPr>
            <p:spPr>
              <a:xfrm>
                <a:off x="7173375" y="4452272"/>
                <a:ext cx="326571" cy="1321"/>
              </a:xfrm>
              <a:prstGeom prst="straightConnector1">
                <a:avLst/>
              </a:prstGeom>
              <a:ln w="25400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TextBox 96"/>
              <p:cNvSpPr txBox="1"/>
              <p:nvPr/>
            </p:nvSpPr>
            <p:spPr>
              <a:xfrm>
                <a:off x="7119257" y="4441401"/>
                <a:ext cx="457200" cy="4353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i="1" dirty="0" err="1"/>
                  <a:t>dx</a:t>
                </a:r>
                <a:endParaRPr lang="en-US" sz="2200" i="1" dirty="0"/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7414105" y="3033698"/>
                <a:ext cx="130629" cy="126820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7712686" y="3289150"/>
                <a:ext cx="130629" cy="126820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7423435" y="3544603"/>
                <a:ext cx="130629" cy="12682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Oval 100"/>
              <p:cNvSpPr/>
              <p:nvPr/>
            </p:nvSpPr>
            <p:spPr>
              <a:xfrm>
                <a:off x="7128587" y="3298208"/>
                <a:ext cx="130629" cy="126820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7412238" y="3289150"/>
                <a:ext cx="130629" cy="126820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TextBox 102"/>
              <p:cNvSpPr txBox="1"/>
              <p:nvPr/>
            </p:nvSpPr>
            <p:spPr>
              <a:xfrm>
                <a:off x="7903029" y="4441401"/>
                <a:ext cx="653143" cy="4353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i="1" dirty="0">
                    <a:solidFill>
                      <a:srgbClr val="FF0000"/>
                    </a:solidFill>
                  </a:rPr>
                  <a:t>(</a:t>
                </a:r>
                <a:r>
                  <a:rPr lang="en-US" sz="2200" i="1" dirty="0" err="1">
                    <a:solidFill>
                      <a:srgbClr val="FF0000"/>
                    </a:solidFill>
                  </a:rPr>
                  <a:t>i,j</a:t>
                </a:r>
                <a:r>
                  <a:rPr lang="en-US" sz="2200" i="1" dirty="0">
                    <a:solidFill>
                      <a:srgbClr val="FF0000"/>
                    </a:solidFill>
                  </a:rPr>
                  <a:t>)</a:t>
                </a:r>
              </a:p>
            </p:txBody>
          </p:sp>
          <p:cxnSp>
            <p:nvCxnSpPr>
              <p:cNvPr id="104" name="Straight Arrow Connector 103"/>
              <p:cNvCxnSpPr/>
              <p:nvPr/>
            </p:nvCxnSpPr>
            <p:spPr>
              <a:xfrm rot="16200000" flipV="1">
                <a:off x="7367756" y="3588615"/>
                <a:ext cx="1014560" cy="709127"/>
              </a:xfrm>
              <a:prstGeom prst="straightConnector1">
                <a:avLst/>
              </a:prstGeom>
              <a:ln w="31750">
                <a:solidFill>
                  <a:srgbClr val="C0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Oval 104"/>
              <p:cNvSpPr/>
              <p:nvPr/>
            </p:nvSpPr>
            <p:spPr>
              <a:xfrm>
                <a:off x="6786466" y="1580603"/>
                <a:ext cx="130629" cy="126820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Oval 105"/>
              <p:cNvSpPr/>
              <p:nvPr/>
            </p:nvSpPr>
            <p:spPr>
              <a:xfrm>
                <a:off x="7085047" y="1836055"/>
                <a:ext cx="130629" cy="126820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6795796" y="2091508"/>
                <a:ext cx="130629" cy="12682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6500948" y="1845113"/>
                <a:ext cx="130629" cy="126820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Oval 108"/>
              <p:cNvSpPr/>
              <p:nvPr/>
            </p:nvSpPr>
            <p:spPr>
              <a:xfrm>
                <a:off x="6784599" y="1836055"/>
                <a:ext cx="130629" cy="126820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6468603" y="3975642"/>
                <a:ext cx="130629" cy="126820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Oval 110"/>
              <p:cNvSpPr/>
              <p:nvPr/>
            </p:nvSpPr>
            <p:spPr>
              <a:xfrm>
                <a:off x="6767184" y="4231094"/>
                <a:ext cx="130629" cy="126820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6477933" y="4486547"/>
                <a:ext cx="130629" cy="12682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Oval 112"/>
              <p:cNvSpPr/>
              <p:nvPr/>
            </p:nvSpPr>
            <p:spPr>
              <a:xfrm>
                <a:off x="6183085" y="4240152"/>
                <a:ext cx="130629" cy="126820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6466736" y="4231094"/>
                <a:ext cx="130629" cy="126820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/>
              <p:cNvSpPr/>
              <p:nvPr/>
            </p:nvSpPr>
            <p:spPr>
              <a:xfrm>
                <a:off x="5885129" y="2551611"/>
                <a:ext cx="130629" cy="126820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/>
              <p:cNvSpPr/>
              <p:nvPr/>
            </p:nvSpPr>
            <p:spPr>
              <a:xfrm>
                <a:off x="6183710" y="2807063"/>
                <a:ext cx="130629" cy="126820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5894459" y="3062516"/>
                <a:ext cx="130629" cy="12682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5599611" y="2816121"/>
                <a:ext cx="130629" cy="126820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Oval 118"/>
              <p:cNvSpPr/>
              <p:nvPr/>
            </p:nvSpPr>
            <p:spPr>
              <a:xfrm>
                <a:off x="5883262" y="2807063"/>
                <a:ext cx="130629" cy="126820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Oval 119"/>
              <p:cNvSpPr/>
              <p:nvPr/>
            </p:nvSpPr>
            <p:spPr>
              <a:xfrm>
                <a:off x="8614642" y="2534192"/>
                <a:ext cx="130629" cy="126820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Oval 120"/>
              <p:cNvSpPr/>
              <p:nvPr/>
            </p:nvSpPr>
            <p:spPr>
              <a:xfrm>
                <a:off x="8913223" y="2789644"/>
                <a:ext cx="130629" cy="126820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8623972" y="3045097"/>
                <a:ext cx="130629" cy="12682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Oval 122"/>
              <p:cNvSpPr/>
              <p:nvPr/>
            </p:nvSpPr>
            <p:spPr>
              <a:xfrm>
                <a:off x="8329124" y="2798702"/>
                <a:ext cx="130629" cy="126820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Oval 123"/>
              <p:cNvSpPr/>
              <p:nvPr/>
            </p:nvSpPr>
            <p:spPr>
              <a:xfrm>
                <a:off x="8612775" y="2789644"/>
                <a:ext cx="130629" cy="126820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6" name="TextBox 125"/>
            <p:cNvSpPr txBox="1"/>
            <p:nvPr/>
          </p:nvSpPr>
          <p:spPr>
            <a:xfrm>
              <a:off x="6553200" y="5334000"/>
              <a:ext cx="2438400" cy="46166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rgbClr val="C00000"/>
                  </a:solidFill>
                </a:rPr>
                <a:t>Điều</a:t>
              </a:r>
              <a:r>
                <a:rPr lang="en-US" sz="2400" b="1" dirty="0">
                  <a:solidFill>
                    <a:srgbClr val="C00000"/>
                  </a:solidFill>
                </a:rPr>
                <a:t> </a:t>
              </a:r>
              <a:r>
                <a:rPr lang="en-US" sz="2400" b="1" dirty="0" err="1">
                  <a:solidFill>
                    <a:srgbClr val="C00000"/>
                  </a:solidFill>
                </a:rPr>
                <a:t>kiện</a:t>
              </a:r>
              <a:r>
                <a:rPr lang="en-US" sz="2400" b="1" dirty="0">
                  <a:solidFill>
                    <a:srgbClr val="C00000"/>
                  </a:solidFill>
                </a:rPr>
                <a:t> </a:t>
              </a:r>
              <a:r>
                <a:rPr lang="en-US" sz="2400" b="1" dirty="0" err="1">
                  <a:solidFill>
                    <a:srgbClr val="C00000"/>
                  </a:solidFill>
                </a:rPr>
                <a:t>biên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128" name="Straight Arrow Connector 127"/>
            <p:cNvCxnSpPr/>
            <p:nvPr/>
          </p:nvCxnSpPr>
          <p:spPr>
            <a:xfrm rot="16200000" flipH="1">
              <a:off x="6629400" y="4495801"/>
              <a:ext cx="914400" cy="76200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122" idx="7"/>
            </p:cNvCxnSpPr>
            <p:nvPr/>
          </p:nvCxnSpPr>
          <p:spPr>
            <a:xfrm rot="16200000" flipH="1">
              <a:off x="7652169" y="4146971"/>
              <a:ext cx="2270332" cy="103729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2" name="Rectangle 141"/>
          <p:cNvSpPr/>
          <p:nvPr/>
        </p:nvSpPr>
        <p:spPr>
          <a:xfrm>
            <a:off x="3886200" y="4038600"/>
            <a:ext cx="1905000" cy="1600200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458200" cy="990600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+mn-lt"/>
              </a:rPr>
              <a:t>Cài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đặt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hàm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tích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hợp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theo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thời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gian</a:t>
            </a:r>
            <a:endParaRPr lang="en-US" sz="3600" dirty="0">
              <a:latin typeface="+mn-lt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2362200" y="1143000"/>
            <a:ext cx="4046538" cy="636588"/>
            <a:chOff x="911225" y="5992813"/>
            <a:chExt cx="4046538" cy="636588"/>
          </a:xfrm>
        </p:grpSpPr>
        <p:graphicFrame>
          <p:nvGraphicFramePr>
            <p:cNvPr id="42" name="Object 41"/>
            <p:cNvGraphicFramePr>
              <a:graphicFrameLocks noChangeAspect="1"/>
            </p:cNvGraphicFramePr>
            <p:nvPr/>
          </p:nvGraphicFramePr>
          <p:xfrm>
            <a:off x="911225" y="5992813"/>
            <a:ext cx="4046538" cy="636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4" name="Equation" r:id="rId3" imgW="1612800" imgH="253800" progId="Equation.3">
                    <p:embed/>
                  </p:oleObj>
                </mc:Choice>
                <mc:Fallback>
                  <p:oleObj name="Equation" r:id="rId3" imgW="1612800" imgH="25380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1225" y="5992813"/>
                          <a:ext cx="4046538" cy="6365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Rectangle 42"/>
            <p:cNvSpPr/>
            <p:nvPr/>
          </p:nvSpPr>
          <p:spPr>
            <a:xfrm>
              <a:off x="1219200" y="6300652"/>
              <a:ext cx="381000" cy="304800"/>
            </a:xfrm>
            <a:prstGeom prst="rect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2286000" y="6298474"/>
              <a:ext cx="381000" cy="304800"/>
            </a:xfrm>
            <a:prstGeom prst="rect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572000" y="6298474"/>
              <a:ext cx="381000" cy="304800"/>
            </a:xfrm>
            <a:prstGeom prst="rect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914400" y="1997838"/>
            <a:ext cx="7391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while (t&lt;=T)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 FD(C, </a:t>
            </a:r>
            <a:r>
              <a:rPr lang="en-US" sz="2400" dirty="0" err="1"/>
              <a:t>dC</a:t>
            </a:r>
            <a:r>
              <a:rPr lang="en-US" sz="2400" dirty="0"/>
              <a:t>);</a:t>
            </a:r>
          </a:p>
          <a:p>
            <a:r>
              <a:rPr lang="nn-NO" sz="2400" dirty="0"/>
              <a:t>     for (  i = 0 ; i &lt; m ; i++ )</a:t>
            </a:r>
          </a:p>
          <a:p>
            <a:r>
              <a:rPr lang="en-US" sz="2400" dirty="0"/>
              <a:t>         for ( j = 0 ; j &lt; n ; j++ )</a:t>
            </a:r>
          </a:p>
          <a:p>
            <a:r>
              <a:rPr lang="en-US" sz="2400" dirty="0"/>
              <a:t>            *(</a:t>
            </a:r>
            <a:r>
              <a:rPr lang="en-US" sz="2400" dirty="0" err="1"/>
              <a:t>C+i</a:t>
            </a:r>
            <a:r>
              <a:rPr lang="en-US" sz="2400" dirty="0"/>
              <a:t>*</a:t>
            </a:r>
            <a:r>
              <a:rPr lang="en-US" sz="2400" dirty="0" err="1"/>
              <a:t>n+j</a:t>
            </a:r>
            <a:r>
              <a:rPr lang="en-US" sz="2400" dirty="0"/>
              <a:t>) = *(</a:t>
            </a:r>
            <a:r>
              <a:rPr lang="en-US" sz="2400" dirty="0" err="1"/>
              <a:t>C+i</a:t>
            </a:r>
            <a:r>
              <a:rPr lang="en-US" sz="2400" dirty="0"/>
              <a:t>*</a:t>
            </a:r>
            <a:r>
              <a:rPr lang="en-US" sz="2400" dirty="0" err="1"/>
              <a:t>n+j</a:t>
            </a:r>
            <a:r>
              <a:rPr lang="en-US" sz="2400" dirty="0"/>
              <a:t>) + </a:t>
            </a:r>
            <a:r>
              <a:rPr lang="en-US" sz="2400" dirty="0" err="1"/>
              <a:t>dt</a:t>
            </a:r>
            <a:r>
              <a:rPr lang="en-US" sz="2400" dirty="0"/>
              <a:t>*(*(</a:t>
            </a:r>
            <a:r>
              <a:rPr lang="en-US" sz="2400" dirty="0" err="1"/>
              <a:t>dC+i</a:t>
            </a:r>
            <a:r>
              <a:rPr lang="en-US" sz="2400" dirty="0"/>
              <a:t>*</a:t>
            </a:r>
            <a:r>
              <a:rPr lang="en-US" sz="2400" dirty="0" err="1"/>
              <a:t>n+j</a:t>
            </a:r>
            <a:r>
              <a:rPr lang="en-US" sz="2400" dirty="0"/>
              <a:t>));</a:t>
            </a:r>
          </a:p>
          <a:p>
            <a:r>
              <a:rPr lang="en-US" sz="2400" dirty="0"/>
              <a:t>      t=</a:t>
            </a:r>
            <a:r>
              <a:rPr lang="en-US" sz="2400" dirty="0" err="1"/>
              <a:t>t+dt</a:t>
            </a:r>
            <a:r>
              <a:rPr lang="en-US" sz="2400" dirty="0"/>
              <a:t>;</a:t>
            </a:r>
          </a:p>
          <a:p>
            <a:r>
              <a:rPr lang="en-US" sz="2400" dirty="0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SPMD: Single Program Multiple Data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Giải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</a:t>
            </a:r>
            <a:r>
              <a:rPr kumimoji="0" lang="en-US" sz="3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thuật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song </a:t>
            </a:r>
            <a:r>
              <a:rPr kumimoji="0" lang="en-US" sz="3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song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SPMD 1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grpSp>
        <p:nvGrpSpPr>
          <p:cNvPr id="72" name="Group 71"/>
          <p:cNvGrpSpPr/>
          <p:nvPr/>
        </p:nvGrpSpPr>
        <p:grpSpPr>
          <a:xfrm>
            <a:off x="1295400" y="2590800"/>
            <a:ext cx="5105400" cy="3048000"/>
            <a:chOff x="1295400" y="2590800"/>
            <a:chExt cx="5105400" cy="3048000"/>
          </a:xfrm>
        </p:grpSpPr>
        <p:sp>
          <p:nvSpPr>
            <p:cNvPr id="34" name="Rectangle 33"/>
            <p:cNvSpPr/>
            <p:nvPr/>
          </p:nvSpPr>
          <p:spPr>
            <a:xfrm>
              <a:off x="2743200" y="2677180"/>
              <a:ext cx="3200400" cy="2895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/>
            <p:cNvCxnSpPr/>
            <p:nvPr/>
          </p:nvCxnSpPr>
          <p:spPr>
            <a:xfrm rot="10800000" flipH="1">
              <a:off x="2743200" y="4124981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10800000" flipH="1">
              <a:off x="2743200" y="4428192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0800000" flipH="1">
              <a:off x="2743200" y="5037792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10800000" flipH="1">
              <a:off x="2743200" y="4732992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10800000" flipH="1">
              <a:off x="2743200" y="5342592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10800000" flipH="1">
              <a:off x="2743200" y="2904192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10800000" flipH="1">
              <a:off x="2743200" y="3513792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10800000" flipH="1">
              <a:off x="2743200" y="3208992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10800000" flipH="1">
              <a:off x="2743200" y="3818592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16200000" flipH="1">
              <a:off x="3428205" y="4124186"/>
              <a:ext cx="28956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16200000" flipH="1">
              <a:off x="3809205" y="4124186"/>
              <a:ext cx="28956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16200000" flipH="1">
              <a:off x="4190206" y="4124186"/>
              <a:ext cx="28956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16200000" flipH="1">
              <a:off x="2361406" y="4124980"/>
              <a:ext cx="28956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16200000" flipH="1">
              <a:off x="1599406" y="4124981"/>
              <a:ext cx="28956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16200000" flipH="1">
              <a:off x="1980406" y="4124187"/>
              <a:ext cx="28956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16200000" flipH="1">
              <a:off x="3048794" y="4114007"/>
              <a:ext cx="28956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16200000" flipH="1">
              <a:off x="2693920" y="4114006"/>
              <a:ext cx="28956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tangle 65"/>
            <p:cNvSpPr/>
            <p:nvPr/>
          </p:nvSpPr>
          <p:spPr>
            <a:xfrm>
              <a:off x="1295400" y="4572000"/>
              <a:ext cx="5105400" cy="1066800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295400" y="2590800"/>
              <a:ext cx="5105400" cy="1066800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295400" y="3657600"/>
              <a:ext cx="5105400" cy="914400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447800" y="2667000"/>
              <a:ext cx="1066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CPU0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447800" y="3653135"/>
              <a:ext cx="1066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CPU1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447800" y="4572000"/>
              <a:ext cx="1066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CPU2</a:t>
              </a:r>
            </a:p>
          </p:txBody>
        </p:sp>
      </p:grpSp>
      <p:sp>
        <p:nvSpPr>
          <p:cNvPr id="73" name="TextBox 72"/>
          <p:cNvSpPr txBox="1"/>
          <p:nvPr/>
        </p:nvSpPr>
        <p:spPr>
          <a:xfrm>
            <a:off x="6781800" y="3352800"/>
            <a:ext cx="2133600" cy="83099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Domain </a:t>
            </a:r>
          </a:p>
          <a:p>
            <a:r>
              <a:rPr lang="en-US" sz="2400" dirty="0"/>
              <a:t>Decomposition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B1: </a:t>
            </a:r>
            <a:r>
              <a:rPr lang="en-US" sz="2800" dirty="0" err="1"/>
              <a:t>Khởi</a:t>
            </a:r>
            <a:r>
              <a:rPr lang="en-US" sz="2800" dirty="0"/>
              <a:t> </a:t>
            </a:r>
            <a:r>
              <a:rPr lang="en-US" sz="2800" dirty="0" err="1"/>
              <a:t>tạo</a:t>
            </a:r>
            <a:r>
              <a:rPr lang="en-US" sz="2800" dirty="0"/>
              <a:t>/</a:t>
            </a:r>
            <a:r>
              <a:rPr lang="en-US" sz="2800" dirty="0" err="1"/>
              <a:t>nhập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trị</a:t>
            </a:r>
            <a:r>
              <a:rPr lang="en-US" sz="2800" dirty="0"/>
              <a:t> ban </a:t>
            </a:r>
            <a:r>
              <a:rPr lang="en-US" sz="2800" dirty="0" err="1"/>
              <a:t>đầu</a:t>
            </a:r>
            <a:r>
              <a:rPr lang="en-US" sz="2800" dirty="0"/>
              <a:t> (Input data) </a:t>
            </a:r>
          </a:p>
          <a:p>
            <a:pPr lvl="1"/>
            <a:r>
              <a:rPr lang="en-US" sz="2400" dirty="0" err="1"/>
              <a:t>Thông</a:t>
            </a:r>
            <a:r>
              <a:rPr lang="en-US" sz="2400" dirty="0"/>
              <a:t> </a:t>
            </a:r>
            <a:r>
              <a:rPr lang="en-US" sz="2400" dirty="0" err="1"/>
              <a:t>thường</a:t>
            </a:r>
            <a:r>
              <a:rPr lang="en-US" sz="2400" dirty="0"/>
              <a:t> </a:t>
            </a:r>
            <a:r>
              <a:rPr lang="en-US" sz="2400" dirty="0" err="1"/>
              <a:t>tại</a:t>
            </a:r>
            <a:r>
              <a:rPr lang="en-US" sz="2400" dirty="0"/>
              <a:t> CPU0, </a:t>
            </a:r>
            <a:r>
              <a:rPr lang="en-US" sz="2400" dirty="0" err="1"/>
              <a:t>gọi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Root</a:t>
            </a:r>
          </a:p>
          <a:p>
            <a:r>
              <a:rPr lang="en-US" sz="2800" dirty="0"/>
              <a:t>B2: </a:t>
            </a:r>
            <a:r>
              <a:rPr lang="en-US" sz="2800" dirty="0" err="1"/>
              <a:t>Chia</a:t>
            </a:r>
            <a:r>
              <a:rPr lang="en-US" sz="2800" dirty="0"/>
              <a:t> </a:t>
            </a:r>
            <a:r>
              <a:rPr lang="en-US" sz="2800" dirty="0" err="1"/>
              <a:t>miền</a:t>
            </a:r>
            <a:r>
              <a:rPr lang="en-US" sz="2800" dirty="0"/>
              <a:t>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endParaRPr lang="en-US" sz="2800" dirty="0"/>
          </a:p>
          <a:p>
            <a:r>
              <a:rPr lang="en-US" sz="2800" dirty="0"/>
              <a:t>B3: </a:t>
            </a:r>
            <a:r>
              <a:rPr lang="en-US" sz="2800" dirty="0" err="1"/>
              <a:t>Gửi</a:t>
            </a:r>
            <a:r>
              <a:rPr lang="en-US" sz="2800" dirty="0"/>
              <a:t> Input </a:t>
            </a:r>
            <a:r>
              <a:rPr lang="en-US" sz="2800" dirty="0" err="1"/>
              <a:t>từ</a:t>
            </a:r>
            <a:r>
              <a:rPr lang="en-US" sz="2800" dirty="0"/>
              <a:t> Root </a:t>
            </a:r>
            <a:r>
              <a:rPr lang="en-US" sz="2800" dirty="0" err="1"/>
              <a:t>đến</a:t>
            </a:r>
            <a:r>
              <a:rPr lang="en-US" sz="2800" dirty="0"/>
              <a:t> </a:t>
            </a:r>
            <a:r>
              <a:rPr lang="en-US" sz="2800" dirty="0" err="1"/>
              <a:t>tất</a:t>
            </a:r>
            <a:r>
              <a:rPr lang="en-US" sz="2800" dirty="0"/>
              <a:t> </a:t>
            </a:r>
            <a:r>
              <a:rPr lang="en-US" sz="2800" dirty="0" err="1"/>
              <a:t>cả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CPU</a:t>
            </a:r>
          </a:p>
          <a:p>
            <a:r>
              <a:rPr lang="en-US" sz="2800" dirty="0"/>
              <a:t>B4: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(</a:t>
            </a:r>
            <a:r>
              <a:rPr lang="en-US" sz="2800" dirty="0" err="1"/>
              <a:t>Mỗi</a:t>
            </a:r>
            <a:r>
              <a:rPr lang="en-US" sz="2800" dirty="0"/>
              <a:t> CPU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</a:t>
            </a:r>
            <a:r>
              <a:rPr lang="en-US" sz="2800" dirty="0" err="1"/>
              <a:t>trên</a:t>
            </a:r>
            <a:r>
              <a:rPr lang="en-US" sz="2800" dirty="0"/>
              <a:t> </a:t>
            </a:r>
            <a:r>
              <a:rPr lang="en-US" sz="2800" dirty="0" err="1"/>
              <a:t>subdomain</a:t>
            </a:r>
            <a:r>
              <a:rPr lang="en-US" sz="2800" dirty="0"/>
              <a:t> </a:t>
            </a:r>
            <a:r>
              <a:rPr lang="en-US" sz="2800" dirty="0" err="1"/>
              <a:t>tương</a:t>
            </a:r>
            <a:r>
              <a:rPr lang="en-US" sz="2800" dirty="0"/>
              <a:t> </a:t>
            </a:r>
            <a:r>
              <a:rPr lang="en-US" sz="2800" dirty="0" err="1"/>
              <a:t>ứng</a:t>
            </a:r>
            <a:r>
              <a:rPr lang="en-US" sz="2800" dirty="0"/>
              <a:t>)</a:t>
            </a:r>
          </a:p>
          <a:p>
            <a:r>
              <a:rPr lang="en-US" sz="2800" dirty="0"/>
              <a:t>B5: </a:t>
            </a:r>
            <a:r>
              <a:rPr lang="en-US" sz="2800" dirty="0" err="1"/>
              <a:t>Các</a:t>
            </a:r>
            <a:r>
              <a:rPr lang="en-US" sz="2800" dirty="0"/>
              <a:t> CPU </a:t>
            </a:r>
            <a:r>
              <a:rPr lang="en-US" sz="2800" dirty="0" err="1"/>
              <a:t>gửi</a:t>
            </a:r>
            <a:r>
              <a:rPr lang="en-US" sz="2800" dirty="0"/>
              <a:t> </a:t>
            </a:r>
            <a:r>
              <a:rPr lang="en-US" sz="2800" dirty="0" err="1"/>
              <a:t>kết</a:t>
            </a:r>
            <a:r>
              <a:rPr lang="en-US" sz="2800" dirty="0"/>
              <a:t> </a:t>
            </a:r>
            <a:r>
              <a:rPr lang="en-US" sz="2800" dirty="0" err="1"/>
              <a:t>quả</a:t>
            </a:r>
            <a:r>
              <a:rPr lang="en-US" sz="2800" dirty="0"/>
              <a:t>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(Output) </a:t>
            </a:r>
            <a:r>
              <a:rPr lang="en-US" sz="2800" dirty="0" err="1"/>
              <a:t>về</a:t>
            </a:r>
            <a:r>
              <a:rPr lang="en-US" sz="2800" dirty="0"/>
              <a:t> Root</a:t>
            </a:r>
          </a:p>
          <a:p>
            <a:pPr>
              <a:buNone/>
            </a:pPr>
            <a:endParaRPr lang="en-US" sz="2800" b="1" dirty="0">
              <a:solidFill>
                <a:srgbClr val="C00000"/>
              </a:solidFill>
            </a:endParaRPr>
          </a:p>
          <a:p>
            <a:pPr algn="ctr">
              <a:buNone/>
            </a:pPr>
            <a:r>
              <a:rPr lang="en-US" sz="2800" b="1" dirty="0">
                <a:solidFill>
                  <a:srgbClr val="C00000"/>
                </a:solidFill>
              </a:rPr>
              <a:t>B3 </a:t>
            </a:r>
            <a:r>
              <a:rPr lang="en-US" sz="2800" b="1" dirty="0" err="1">
                <a:solidFill>
                  <a:srgbClr val="C00000"/>
                </a:solidFill>
              </a:rPr>
              <a:t>và</a:t>
            </a:r>
            <a:r>
              <a:rPr lang="en-US" sz="2800" b="1" dirty="0">
                <a:solidFill>
                  <a:srgbClr val="C00000"/>
                </a:solidFill>
              </a:rPr>
              <a:t> B5: </a:t>
            </a:r>
            <a:r>
              <a:rPr lang="en-US" sz="2800" b="1" dirty="0" err="1">
                <a:solidFill>
                  <a:srgbClr val="C00000"/>
                </a:solidFill>
              </a:rPr>
              <a:t>Truyền</a:t>
            </a:r>
            <a:r>
              <a:rPr lang="en-US" sz="2800" b="1" dirty="0">
                <a:solidFill>
                  <a:srgbClr val="C00000"/>
                </a:solidFill>
              </a:rPr>
              <a:t> </a:t>
            </a:r>
            <a:r>
              <a:rPr lang="en-US" sz="2800" b="1" dirty="0" err="1">
                <a:solidFill>
                  <a:srgbClr val="C00000"/>
                </a:solidFill>
              </a:rPr>
              <a:t>thông</a:t>
            </a:r>
            <a:r>
              <a:rPr lang="en-US" sz="2800" b="1" dirty="0">
                <a:solidFill>
                  <a:srgbClr val="C00000"/>
                </a:solidFill>
              </a:rPr>
              <a:t> (Input </a:t>
            </a:r>
            <a:r>
              <a:rPr lang="en-US" sz="2800" b="1" dirty="0" err="1">
                <a:solidFill>
                  <a:srgbClr val="C00000"/>
                </a:solidFill>
              </a:rPr>
              <a:t>và</a:t>
            </a:r>
            <a:r>
              <a:rPr lang="en-US" sz="2800" b="1" dirty="0">
                <a:solidFill>
                  <a:srgbClr val="C00000"/>
                </a:solidFill>
              </a:rPr>
              <a:t> Output)</a:t>
            </a:r>
          </a:p>
          <a:p>
            <a:endParaRPr lang="en-US" sz="28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Giải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</a:t>
            </a:r>
            <a:r>
              <a:rPr kumimoji="0" lang="en-US" sz="3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thuật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song </a:t>
            </a:r>
            <a:r>
              <a:rPr kumimoji="0" lang="en-US" sz="3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song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SPMD 2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1"/>
            <a:ext cx="8077200" cy="3733800"/>
          </a:xfrm>
        </p:spPr>
        <p:txBody>
          <a:bodyPr>
            <a:normAutofit/>
          </a:bodyPr>
          <a:lstStyle/>
          <a:p>
            <a:r>
              <a:rPr lang="en-US" sz="2800" dirty="0"/>
              <a:t>B1: </a:t>
            </a:r>
            <a:r>
              <a:rPr lang="en-US" sz="2800" dirty="0" err="1"/>
              <a:t>Khởi</a:t>
            </a:r>
            <a:r>
              <a:rPr lang="en-US" sz="2800" dirty="0"/>
              <a:t> </a:t>
            </a:r>
            <a:r>
              <a:rPr lang="en-US" sz="2800" dirty="0" err="1"/>
              <a:t>tạo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trị</a:t>
            </a:r>
            <a:r>
              <a:rPr lang="en-US" sz="2800" dirty="0"/>
              <a:t> ban </a:t>
            </a:r>
            <a:r>
              <a:rPr lang="en-US" sz="2800" dirty="0" err="1"/>
              <a:t>đầu</a:t>
            </a:r>
            <a:endParaRPr lang="en-US" sz="2800" dirty="0"/>
          </a:p>
          <a:p>
            <a:pPr lvl="1"/>
            <a:r>
              <a:rPr lang="en-US" sz="2400" dirty="0"/>
              <a:t>Theo </a:t>
            </a:r>
            <a:r>
              <a:rPr lang="en-US" sz="2400" dirty="0" err="1"/>
              <a:t>yêu</a:t>
            </a:r>
            <a:r>
              <a:rPr lang="en-US" sz="2400" dirty="0"/>
              <a:t> </a:t>
            </a:r>
            <a:r>
              <a:rPr lang="en-US" sz="2400" dirty="0" err="1"/>
              <a:t>cầu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từng</a:t>
            </a:r>
            <a:r>
              <a:rPr lang="en-US" sz="2400" dirty="0"/>
              <a:t> </a:t>
            </a:r>
            <a:r>
              <a:rPr lang="en-US" sz="2400" dirty="0" err="1"/>
              <a:t>bài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endParaRPr lang="en-US" sz="2400" dirty="0"/>
          </a:p>
          <a:p>
            <a:pPr lvl="1"/>
            <a:r>
              <a:rPr lang="en-US" sz="2400" dirty="0" err="1"/>
              <a:t>Ảnh</a:t>
            </a:r>
            <a:r>
              <a:rPr lang="en-US" sz="2400" dirty="0"/>
              <a:t> </a:t>
            </a:r>
            <a:r>
              <a:rPr lang="en-US" sz="2400" dirty="0" err="1"/>
              <a:t>hưởng</a:t>
            </a:r>
            <a:r>
              <a:rPr lang="en-US" sz="2400" dirty="0"/>
              <a:t> </a:t>
            </a:r>
            <a:r>
              <a:rPr lang="en-US" sz="2400" dirty="0" err="1"/>
              <a:t>đến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quả</a:t>
            </a:r>
            <a:r>
              <a:rPr lang="en-US" sz="2400" dirty="0"/>
              <a:t> </a:t>
            </a:r>
            <a:r>
              <a:rPr lang="en-US" sz="2400" dirty="0" err="1"/>
              <a:t>đầu</a:t>
            </a:r>
            <a:r>
              <a:rPr lang="en-US" sz="2400" dirty="0"/>
              <a:t> </a:t>
            </a:r>
            <a:r>
              <a:rPr lang="en-US" sz="2400" dirty="0" err="1"/>
              <a:t>ra</a:t>
            </a:r>
            <a:endParaRPr lang="en-US" sz="2400" dirty="0"/>
          </a:p>
          <a:p>
            <a:endParaRPr lang="en-US" sz="28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Giải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</a:t>
            </a:r>
            <a:r>
              <a:rPr kumimoji="0" lang="en-US" sz="3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thuật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song </a:t>
            </a:r>
            <a:r>
              <a:rPr kumimoji="0" lang="en-US" sz="3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song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SPMD 3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66800"/>
            <a:ext cx="8305800" cy="5486400"/>
          </a:xfrm>
        </p:spPr>
        <p:txBody>
          <a:bodyPr>
            <a:normAutofit/>
          </a:bodyPr>
          <a:lstStyle/>
          <a:p>
            <a:r>
              <a:rPr lang="en-US" sz="2800" dirty="0"/>
              <a:t>B2: </a:t>
            </a:r>
            <a:r>
              <a:rPr lang="en-US" sz="2800" dirty="0" err="1"/>
              <a:t>Chia</a:t>
            </a:r>
            <a:r>
              <a:rPr lang="en-US" sz="2800" dirty="0"/>
              <a:t> </a:t>
            </a:r>
            <a:r>
              <a:rPr lang="en-US" sz="2800" dirty="0" err="1"/>
              <a:t>miền</a:t>
            </a:r>
            <a:r>
              <a:rPr lang="en-US" sz="2800" dirty="0"/>
              <a:t>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endParaRPr lang="en-US" sz="2800" dirty="0"/>
          </a:p>
          <a:p>
            <a:pPr lvl="1"/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rất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cách</a:t>
            </a:r>
            <a:r>
              <a:rPr lang="en-US" sz="2400" dirty="0"/>
              <a:t> </a:t>
            </a:r>
            <a:r>
              <a:rPr lang="en-US" sz="2400" dirty="0" err="1"/>
              <a:t>chia</a:t>
            </a:r>
            <a:endParaRPr lang="en-US" sz="2400" dirty="0"/>
          </a:p>
          <a:p>
            <a:pPr lvl="1"/>
            <a:r>
              <a:rPr lang="en-US" sz="2400" dirty="0" err="1"/>
              <a:t>Chọn</a:t>
            </a:r>
            <a:r>
              <a:rPr lang="en-US" sz="2400" dirty="0"/>
              <a:t> </a:t>
            </a:r>
            <a:r>
              <a:rPr lang="en-US" sz="2400" dirty="0" err="1"/>
              <a:t>cách</a:t>
            </a:r>
            <a:r>
              <a:rPr lang="en-US" sz="2400" dirty="0"/>
              <a:t> </a:t>
            </a:r>
            <a:r>
              <a:rPr lang="en-US" sz="2400" dirty="0" err="1"/>
              <a:t>chia</a:t>
            </a:r>
            <a:r>
              <a:rPr lang="en-US" sz="2400" dirty="0"/>
              <a:t>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giản</a:t>
            </a:r>
            <a:r>
              <a:rPr lang="en-US" sz="2400" dirty="0"/>
              <a:t> </a:t>
            </a:r>
            <a:r>
              <a:rPr lang="en-US" sz="2400" dirty="0" err="1"/>
              <a:t>nhất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chia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en-US" sz="2400" dirty="0"/>
          </a:p>
          <a:p>
            <a:pPr lvl="1"/>
            <a:r>
              <a:rPr lang="en-US" sz="2400" dirty="0" err="1"/>
              <a:t>Giả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kích</a:t>
            </a:r>
            <a:r>
              <a:rPr lang="en-US" sz="2400" dirty="0"/>
              <a:t> </a:t>
            </a:r>
            <a:r>
              <a:rPr lang="en-US" sz="2400" dirty="0" err="1"/>
              <a:t>thước</a:t>
            </a:r>
            <a:r>
              <a:rPr lang="en-US" sz="2400" dirty="0"/>
              <a:t> </a:t>
            </a:r>
            <a:r>
              <a:rPr lang="en-US" sz="2400" dirty="0" err="1"/>
              <a:t>toàn</a:t>
            </a:r>
            <a:r>
              <a:rPr lang="en-US" sz="2400" dirty="0"/>
              <a:t> </a:t>
            </a:r>
            <a:r>
              <a:rPr lang="en-US" sz="2400" dirty="0" err="1"/>
              <a:t>miền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: </a:t>
            </a:r>
            <a:r>
              <a:rPr lang="en-US" sz="3200" dirty="0" err="1"/>
              <a:t>m</a:t>
            </a:r>
            <a:r>
              <a:rPr lang="en-US" sz="2400" dirty="0" err="1"/>
              <a:t>x</a:t>
            </a:r>
            <a:r>
              <a:rPr lang="en-US" sz="3200" dirty="0" err="1"/>
              <a:t>n</a:t>
            </a:r>
            <a:endParaRPr lang="en-US" sz="3200" dirty="0"/>
          </a:p>
          <a:p>
            <a:pPr lvl="1"/>
            <a:r>
              <a:rPr lang="en-US" sz="2400" dirty="0" err="1"/>
              <a:t>Miền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mỗi</a:t>
            </a:r>
            <a:r>
              <a:rPr lang="en-US" sz="2400" dirty="0"/>
              <a:t> CPU </a:t>
            </a:r>
            <a:r>
              <a:rPr lang="en-US" sz="2400" dirty="0" err="1"/>
              <a:t>là</a:t>
            </a:r>
            <a:r>
              <a:rPr lang="en-US" sz="2400" dirty="0"/>
              <a:t>: </a:t>
            </a:r>
            <a:r>
              <a:rPr lang="en-US" sz="3200" dirty="0" err="1"/>
              <a:t>mc</a:t>
            </a:r>
            <a:r>
              <a:rPr lang="en-US" sz="1400" dirty="0" err="1"/>
              <a:t>x</a:t>
            </a:r>
            <a:r>
              <a:rPr lang="en-US" sz="3200" dirty="0" err="1"/>
              <a:t>n</a:t>
            </a:r>
            <a:r>
              <a:rPr lang="en-US" sz="2400" dirty="0"/>
              <a:t>,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đó</a:t>
            </a:r>
            <a:r>
              <a:rPr lang="en-US" sz="2400" dirty="0"/>
              <a:t>: </a:t>
            </a:r>
            <a:r>
              <a:rPr lang="en-US" sz="2400" b="1" dirty="0"/>
              <a:t>mc=m/NP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b="1" dirty="0"/>
              <a:t>NP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lượng</a:t>
            </a:r>
            <a:r>
              <a:rPr lang="en-US" sz="2400" dirty="0"/>
              <a:t> CPU</a:t>
            </a:r>
            <a:endParaRPr lang="en-US" sz="32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Giải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</a:t>
            </a:r>
            <a:r>
              <a:rPr kumimoji="0" lang="en-US" sz="3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thuật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song </a:t>
            </a:r>
            <a:r>
              <a:rPr kumimoji="0" lang="en-US" sz="3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song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SPMD 4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362200" y="4191000"/>
            <a:ext cx="4419600" cy="2286000"/>
            <a:chOff x="1295400" y="2590800"/>
            <a:chExt cx="5105400" cy="3048000"/>
          </a:xfrm>
        </p:grpSpPr>
        <p:sp>
          <p:nvSpPr>
            <p:cNvPr id="6" name="Rectangle 5"/>
            <p:cNvSpPr/>
            <p:nvPr/>
          </p:nvSpPr>
          <p:spPr>
            <a:xfrm>
              <a:off x="2743200" y="2677180"/>
              <a:ext cx="3200400" cy="2895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 rot="10800000" flipH="1">
              <a:off x="2743200" y="4124981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rot="10800000" flipH="1">
              <a:off x="2743200" y="4570411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 flipH="1">
              <a:off x="2743200" y="5037792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rot="10800000" flipH="1">
              <a:off x="2743200" y="4732992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 flipH="1">
              <a:off x="2743200" y="5342592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0800000" flipH="1">
              <a:off x="2743200" y="2904192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10800000" flipH="1">
              <a:off x="2743200" y="3513792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 flipH="1">
              <a:off x="2743200" y="3208992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 flipH="1">
              <a:off x="2743200" y="3818592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H="1">
              <a:off x="3428205" y="4124186"/>
              <a:ext cx="28956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6200000" flipH="1">
              <a:off x="3809205" y="4124186"/>
              <a:ext cx="28956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6200000" flipH="1">
              <a:off x="4190206" y="4124186"/>
              <a:ext cx="28956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16200000" flipH="1">
              <a:off x="2361406" y="4124980"/>
              <a:ext cx="28956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H="1">
              <a:off x="1599406" y="4124981"/>
              <a:ext cx="28956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16200000" flipH="1">
              <a:off x="1980406" y="4124187"/>
              <a:ext cx="28956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16200000" flipH="1">
              <a:off x="3048794" y="4114007"/>
              <a:ext cx="28956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16200000" flipH="1">
              <a:off x="2693920" y="4114006"/>
              <a:ext cx="28956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1295400" y="4572000"/>
              <a:ext cx="5105400" cy="1066800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295400" y="2590800"/>
              <a:ext cx="5105400" cy="1066800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295400" y="3657600"/>
              <a:ext cx="5105400" cy="914400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447800" y="2667000"/>
              <a:ext cx="1066800" cy="500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CPU0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447800" y="3653135"/>
              <a:ext cx="1066800" cy="500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CPU1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447800" y="4572000"/>
              <a:ext cx="1066800" cy="500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CPU2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763000" cy="5867400"/>
          </a:xfrm>
        </p:spPr>
        <p:txBody>
          <a:bodyPr>
            <a:normAutofit/>
          </a:bodyPr>
          <a:lstStyle/>
          <a:p>
            <a:r>
              <a:rPr lang="en-US" sz="2800" dirty="0"/>
              <a:t>B3: </a:t>
            </a:r>
            <a:r>
              <a:rPr lang="en-US" sz="2800" dirty="0" err="1"/>
              <a:t>Gửi</a:t>
            </a:r>
            <a:r>
              <a:rPr lang="en-US" sz="2800" dirty="0"/>
              <a:t> Input </a:t>
            </a:r>
            <a:r>
              <a:rPr lang="en-US" sz="2800" dirty="0" err="1"/>
              <a:t>từ</a:t>
            </a:r>
            <a:r>
              <a:rPr lang="en-US" sz="2800" dirty="0"/>
              <a:t> Root </a:t>
            </a:r>
            <a:r>
              <a:rPr lang="en-US" sz="2800" dirty="0" err="1"/>
              <a:t>đến</a:t>
            </a:r>
            <a:r>
              <a:rPr lang="en-US" sz="2800" dirty="0"/>
              <a:t> </a:t>
            </a:r>
            <a:r>
              <a:rPr lang="en-US" sz="2800" dirty="0" err="1"/>
              <a:t>tất</a:t>
            </a:r>
            <a:r>
              <a:rPr lang="en-US" sz="2800" dirty="0"/>
              <a:t> </a:t>
            </a:r>
            <a:r>
              <a:rPr lang="en-US" sz="2800" dirty="0" err="1"/>
              <a:t>cả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CPU</a:t>
            </a:r>
          </a:p>
          <a:p>
            <a:pPr>
              <a:buNone/>
            </a:pPr>
            <a:r>
              <a:rPr lang="en-US" sz="2800" dirty="0"/>
              <a:t>		</a:t>
            </a:r>
            <a:r>
              <a:rPr lang="en-US" sz="2400" dirty="0" err="1"/>
              <a:t>MPI_Scatter</a:t>
            </a:r>
            <a:r>
              <a:rPr lang="en-US" sz="2400" dirty="0"/>
              <a:t> (C, mc*n, MPI_FLOAT, 					           Cs, mc*n, MPI_FLOAT, 0,</a:t>
            </a:r>
          </a:p>
          <a:p>
            <a:pPr>
              <a:buNone/>
            </a:pPr>
            <a:r>
              <a:rPr lang="en-US" sz="2400" dirty="0"/>
              <a:t>			           MPI_COMM_WORLD);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Giải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</a:t>
            </a:r>
            <a:r>
              <a:rPr kumimoji="0" lang="en-US" sz="3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thuật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song </a:t>
            </a:r>
            <a:r>
              <a:rPr kumimoji="0" lang="en-US" sz="3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song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SPMD 5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1981200" y="2819400"/>
            <a:ext cx="5943600" cy="3886200"/>
            <a:chOff x="1981200" y="2819400"/>
            <a:chExt cx="5943600" cy="3886200"/>
          </a:xfrm>
        </p:grpSpPr>
        <p:sp>
          <p:nvSpPr>
            <p:cNvPr id="6" name="Rectangle 5"/>
            <p:cNvSpPr/>
            <p:nvPr/>
          </p:nvSpPr>
          <p:spPr>
            <a:xfrm>
              <a:off x="2547582" y="3058180"/>
              <a:ext cx="3104866" cy="2895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 rot="10800000" flipH="1">
              <a:off x="2547582" y="4505981"/>
              <a:ext cx="3104866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rot="10800000" flipH="1">
              <a:off x="2547582" y="4951411"/>
              <a:ext cx="3104866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 flipH="1">
              <a:off x="2547582" y="5418792"/>
              <a:ext cx="3104866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rot="10800000" flipH="1">
              <a:off x="2547582" y="5113992"/>
              <a:ext cx="3104866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 flipH="1">
              <a:off x="2547582" y="5723592"/>
              <a:ext cx="3104866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0800000" flipH="1">
              <a:off x="2547582" y="3285192"/>
              <a:ext cx="3104866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10800000" flipH="1">
              <a:off x="2547582" y="3894792"/>
              <a:ext cx="3104866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 flipH="1">
              <a:off x="2547582" y="3589992"/>
              <a:ext cx="3104866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 flipH="1">
              <a:off x="2547582" y="4199592"/>
              <a:ext cx="3104866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H="1">
              <a:off x="3168921" y="4505210"/>
              <a:ext cx="2895600" cy="15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6200000" flipH="1">
              <a:off x="3538548" y="4505210"/>
              <a:ext cx="2895600" cy="15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6200000" flipH="1">
              <a:off x="3908176" y="4505210"/>
              <a:ext cx="2895600" cy="15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16200000" flipH="1">
              <a:off x="2133967" y="4506004"/>
              <a:ext cx="2895600" cy="15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H="1">
              <a:off x="1394713" y="4506005"/>
              <a:ext cx="2895600" cy="15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16200000" flipH="1">
              <a:off x="1764340" y="4505211"/>
              <a:ext cx="2895600" cy="15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16200000" flipH="1">
              <a:off x="2800836" y="4495031"/>
              <a:ext cx="2895600" cy="15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16200000" flipH="1">
              <a:off x="2456555" y="4495030"/>
              <a:ext cx="2895600" cy="15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2286000" y="4953000"/>
              <a:ext cx="3657600" cy="1066800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286000" y="2971800"/>
              <a:ext cx="3657600" cy="1066800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286000" y="4038600"/>
              <a:ext cx="3657600" cy="914400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89845" y="3309862"/>
              <a:ext cx="1034955" cy="50013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CPU0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889845" y="4224262"/>
              <a:ext cx="1034955" cy="50013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CPU1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889845" y="5214862"/>
              <a:ext cx="1034955" cy="50013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CPU2</a:t>
              </a:r>
            </a:p>
          </p:txBody>
        </p:sp>
        <p:cxnSp>
          <p:nvCxnSpPr>
            <p:cNvPr id="33" name="Straight Arrow Connector 32"/>
            <p:cNvCxnSpPr/>
            <p:nvPr/>
          </p:nvCxnSpPr>
          <p:spPr>
            <a:xfrm flipV="1">
              <a:off x="5670092" y="3559931"/>
              <a:ext cx="1098645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flipV="1">
              <a:off x="5651863" y="4495800"/>
              <a:ext cx="1098645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V="1">
              <a:off x="5638800" y="5486400"/>
              <a:ext cx="1098645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/>
            <p:cNvSpPr/>
            <p:nvPr/>
          </p:nvSpPr>
          <p:spPr>
            <a:xfrm>
              <a:off x="1981200" y="2819400"/>
              <a:ext cx="4191000" cy="38862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286000" y="6129262"/>
              <a:ext cx="3733800" cy="40011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rgbClr val="C00000"/>
                  </a:solidFill>
                </a:rPr>
                <a:t>Dữ</a:t>
              </a:r>
              <a:r>
                <a:rPr lang="en-US" sz="2000" b="1" dirty="0">
                  <a:solidFill>
                    <a:srgbClr val="C00000"/>
                  </a:solidFill>
                </a:rPr>
                <a:t> </a:t>
              </a:r>
              <a:r>
                <a:rPr lang="en-US" sz="2000" b="1" dirty="0" err="1">
                  <a:solidFill>
                    <a:srgbClr val="C00000"/>
                  </a:solidFill>
                </a:rPr>
                <a:t>liệu</a:t>
              </a:r>
              <a:r>
                <a:rPr lang="en-US" sz="2000" b="1" dirty="0">
                  <a:solidFill>
                    <a:srgbClr val="C00000"/>
                  </a:solidFill>
                </a:rPr>
                <a:t> </a:t>
              </a:r>
              <a:r>
                <a:rPr lang="en-US" sz="2000" b="1" dirty="0" err="1">
                  <a:solidFill>
                    <a:srgbClr val="C00000"/>
                  </a:solidFill>
                </a:rPr>
                <a:t>khởi</a:t>
              </a:r>
              <a:r>
                <a:rPr lang="en-US" sz="2000" b="1" dirty="0">
                  <a:solidFill>
                    <a:srgbClr val="C00000"/>
                  </a:solidFill>
                </a:rPr>
                <a:t> </a:t>
              </a:r>
              <a:r>
                <a:rPr lang="en-US" sz="2000" b="1" dirty="0" err="1">
                  <a:solidFill>
                    <a:srgbClr val="C00000"/>
                  </a:solidFill>
                </a:rPr>
                <a:t>tạo</a:t>
              </a:r>
              <a:r>
                <a:rPr lang="en-US" sz="2000" b="1" dirty="0">
                  <a:solidFill>
                    <a:srgbClr val="C00000"/>
                  </a:solidFill>
                </a:rPr>
                <a:t> </a:t>
              </a:r>
              <a:r>
                <a:rPr lang="en-US" sz="2000" b="1" dirty="0" err="1">
                  <a:solidFill>
                    <a:srgbClr val="C00000"/>
                  </a:solidFill>
                </a:rPr>
                <a:t>tại</a:t>
              </a:r>
              <a:r>
                <a:rPr lang="en-US" sz="2000" b="1" dirty="0">
                  <a:solidFill>
                    <a:srgbClr val="C00000"/>
                  </a:solidFill>
                </a:rPr>
                <a:t> Root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781800" y="3048000"/>
              <a:ext cx="1066800" cy="990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781800" y="4038600"/>
              <a:ext cx="1066800" cy="9252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781800" y="4968240"/>
              <a:ext cx="1066800" cy="10014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763000" cy="5257800"/>
          </a:xfrm>
        </p:spPr>
        <p:txBody>
          <a:bodyPr>
            <a:normAutofit/>
          </a:bodyPr>
          <a:lstStyle/>
          <a:p>
            <a:r>
              <a:rPr lang="en-US" sz="2800" dirty="0"/>
              <a:t>B5: </a:t>
            </a:r>
            <a:r>
              <a:rPr lang="en-US" sz="2800" dirty="0" err="1"/>
              <a:t>Các</a:t>
            </a:r>
            <a:r>
              <a:rPr lang="en-US" sz="2800" dirty="0"/>
              <a:t> CPU </a:t>
            </a:r>
            <a:r>
              <a:rPr lang="en-US" sz="2800" dirty="0" err="1"/>
              <a:t>gửi</a:t>
            </a:r>
            <a:r>
              <a:rPr lang="en-US" sz="2800" dirty="0"/>
              <a:t> </a:t>
            </a:r>
            <a:r>
              <a:rPr lang="en-US" sz="2800" dirty="0" err="1"/>
              <a:t>kết</a:t>
            </a:r>
            <a:r>
              <a:rPr lang="en-US" sz="2800" dirty="0"/>
              <a:t> </a:t>
            </a:r>
            <a:r>
              <a:rPr lang="en-US" sz="2800" dirty="0" err="1"/>
              <a:t>quả</a:t>
            </a:r>
            <a:r>
              <a:rPr lang="en-US" sz="2800" dirty="0"/>
              <a:t>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(Output) </a:t>
            </a:r>
            <a:r>
              <a:rPr lang="en-US" sz="2800" dirty="0" err="1"/>
              <a:t>về</a:t>
            </a:r>
            <a:r>
              <a:rPr lang="en-US" sz="2800" dirty="0"/>
              <a:t> Root</a:t>
            </a:r>
          </a:p>
          <a:p>
            <a:pPr>
              <a:buNone/>
            </a:pPr>
            <a:r>
              <a:rPr lang="en-US" sz="2800" dirty="0"/>
              <a:t>		</a:t>
            </a:r>
            <a:r>
              <a:rPr lang="en-US" sz="2400" dirty="0" err="1"/>
              <a:t>MPI_Gather</a:t>
            </a:r>
            <a:r>
              <a:rPr lang="en-US" sz="2400" dirty="0"/>
              <a:t> ( Cs, mc*n, MPI_FLOAT,</a:t>
            </a:r>
          </a:p>
          <a:p>
            <a:pPr>
              <a:buNone/>
            </a:pPr>
            <a:r>
              <a:rPr lang="en-US" sz="2400" dirty="0"/>
              <a:t>				C, mc*n, MPI_FLOAT, 0,</a:t>
            </a:r>
          </a:p>
          <a:p>
            <a:pPr>
              <a:buNone/>
            </a:pPr>
            <a:r>
              <a:rPr lang="en-US" sz="2400" dirty="0"/>
              <a:t>			            MPI_COMM_WORLD);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Giải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</a:t>
            </a:r>
            <a:r>
              <a:rPr kumimoji="0" lang="en-US" sz="3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thuật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song </a:t>
            </a:r>
            <a:r>
              <a:rPr kumimoji="0" lang="en-US" sz="3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song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SPMD 6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grpSp>
        <p:nvGrpSpPr>
          <p:cNvPr id="71" name="Group 70"/>
          <p:cNvGrpSpPr/>
          <p:nvPr/>
        </p:nvGrpSpPr>
        <p:grpSpPr>
          <a:xfrm>
            <a:off x="1981200" y="2971800"/>
            <a:ext cx="6172200" cy="3733800"/>
            <a:chOff x="1981200" y="2819400"/>
            <a:chExt cx="6172200" cy="3886200"/>
          </a:xfrm>
        </p:grpSpPr>
        <p:sp>
          <p:nvSpPr>
            <p:cNvPr id="34" name="Rectangle 33"/>
            <p:cNvSpPr/>
            <p:nvPr/>
          </p:nvSpPr>
          <p:spPr>
            <a:xfrm>
              <a:off x="2547582" y="3048816"/>
              <a:ext cx="3104866" cy="278204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/>
            <p:cNvCxnSpPr/>
            <p:nvPr/>
          </p:nvCxnSpPr>
          <p:spPr>
            <a:xfrm rot="10800000" flipH="1">
              <a:off x="2547582" y="4439841"/>
              <a:ext cx="3104866" cy="15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10800000" flipH="1">
              <a:off x="2547582" y="4867803"/>
              <a:ext cx="3104866" cy="15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10800000" flipH="1">
              <a:off x="2547582" y="5316855"/>
              <a:ext cx="3104866" cy="15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10800000" flipH="1">
              <a:off x="2547582" y="5024008"/>
              <a:ext cx="3104866" cy="15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10800000" flipH="1">
              <a:off x="2547582" y="5609702"/>
              <a:ext cx="3104866" cy="15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10800000" flipH="1">
              <a:off x="2547582" y="3266926"/>
              <a:ext cx="3104866" cy="15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10800000" flipH="1">
              <a:off x="2547582" y="3852620"/>
              <a:ext cx="3104866" cy="15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10800000" flipH="1">
              <a:off x="2547582" y="3559773"/>
              <a:ext cx="3104866" cy="15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10800000" flipH="1">
              <a:off x="2547582" y="4145467"/>
              <a:ext cx="3104866" cy="15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16200000" flipH="1">
              <a:off x="3225697" y="4439070"/>
              <a:ext cx="2782047" cy="15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16200000" flipH="1">
              <a:off x="3595324" y="4439070"/>
              <a:ext cx="2782047" cy="15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16200000" flipH="1">
              <a:off x="3964952" y="4439070"/>
              <a:ext cx="2782047" cy="15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16200000" flipH="1">
              <a:off x="2190743" y="4439832"/>
              <a:ext cx="2782047" cy="15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16200000" flipH="1">
              <a:off x="1451489" y="4439833"/>
              <a:ext cx="2782047" cy="15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16200000" flipH="1">
              <a:off x="1821116" y="4439071"/>
              <a:ext cx="2782047" cy="15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16200000" flipH="1">
              <a:off x="2857612" y="4429290"/>
              <a:ext cx="2782047" cy="15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16200000" flipH="1">
              <a:off x="2513331" y="4429289"/>
              <a:ext cx="2782047" cy="15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53"/>
            <p:cNvSpPr/>
            <p:nvPr/>
          </p:nvSpPr>
          <p:spPr>
            <a:xfrm>
              <a:off x="2286000" y="4869329"/>
              <a:ext cx="3657600" cy="1024965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2286000" y="2965824"/>
              <a:ext cx="3657600" cy="1024965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2286000" y="3990788"/>
              <a:ext cx="3657600" cy="878541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429000" y="3290628"/>
              <a:ext cx="1034955" cy="480525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CPU0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429000" y="4169169"/>
              <a:ext cx="1034955" cy="480525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CPU1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429000" y="5120922"/>
              <a:ext cx="1034955" cy="480525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CPU2</a:t>
              </a:r>
            </a:p>
          </p:txBody>
        </p:sp>
        <p:cxnSp>
          <p:nvCxnSpPr>
            <p:cNvPr id="60" name="Straight Arrow Connector 59"/>
            <p:cNvCxnSpPr/>
            <p:nvPr/>
          </p:nvCxnSpPr>
          <p:spPr>
            <a:xfrm flipV="1">
              <a:off x="5670092" y="3530891"/>
              <a:ext cx="1098645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V="1">
              <a:off x="5651863" y="4430059"/>
              <a:ext cx="1098645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V="1">
              <a:off x="5638800" y="5381812"/>
              <a:ext cx="1098645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tangle 62"/>
            <p:cNvSpPr/>
            <p:nvPr/>
          </p:nvSpPr>
          <p:spPr>
            <a:xfrm>
              <a:off x="1981200" y="2819400"/>
              <a:ext cx="4191000" cy="37338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286000" y="5999463"/>
              <a:ext cx="3733800" cy="40011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rgbClr val="C00000"/>
                  </a:solidFill>
                </a:rPr>
                <a:t>Kết</a:t>
              </a:r>
              <a:r>
                <a:rPr lang="en-US" sz="2000" b="1" dirty="0">
                  <a:solidFill>
                    <a:srgbClr val="C00000"/>
                  </a:solidFill>
                </a:rPr>
                <a:t> </a:t>
              </a:r>
              <a:r>
                <a:rPr lang="en-US" sz="2000" b="1" dirty="0" err="1">
                  <a:solidFill>
                    <a:srgbClr val="C00000"/>
                  </a:solidFill>
                </a:rPr>
                <a:t>quả</a:t>
              </a:r>
              <a:r>
                <a:rPr lang="en-US" sz="2000" b="1" dirty="0">
                  <a:solidFill>
                    <a:srgbClr val="C00000"/>
                  </a:solidFill>
                </a:rPr>
                <a:t> </a:t>
              </a:r>
              <a:r>
                <a:rPr lang="en-US" sz="2000" b="1" dirty="0" err="1">
                  <a:solidFill>
                    <a:srgbClr val="C00000"/>
                  </a:solidFill>
                </a:rPr>
                <a:t>tính</a:t>
              </a:r>
              <a:r>
                <a:rPr lang="en-US" sz="2000" b="1" dirty="0">
                  <a:solidFill>
                    <a:srgbClr val="C00000"/>
                  </a:solidFill>
                </a:rPr>
                <a:t> </a:t>
              </a:r>
              <a:r>
                <a:rPr lang="en-US" sz="2000" b="1" dirty="0" err="1">
                  <a:solidFill>
                    <a:srgbClr val="C00000"/>
                  </a:solidFill>
                </a:rPr>
                <a:t>toán</a:t>
              </a:r>
              <a:r>
                <a:rPr lang="en-US" sz="2000" b="1" dirty="0">
                  <a:solidFill>
                    <a:srgbClr val="C00000"/>
                  </a:solidFill>
                </a:rPr>
                <a:t> </a:t>
              </a:r>
              <a:r>
                <a:rPr lang="en-US" sz="2000" b="1" dirty="0" err="1">
                  <a:solidFill>
                    <a:srgbClr val="C00000"/>
                  </a:solidFill>
                </a:rPr>
                <a:t>tại</a:t>
              </a:r>
              <a:r>
                <a:rPr lang="en-US" sz="2000" b="1" dirty="0">
                  <a:solidFill>
                    <a:srgbClr val="C00000"/>
                  </a:solidFill>
                </a:rPr>
                <a:t> </a:t>
              </a:r>
              <a:r>
                <a:rPr lang="en-US" sz="2000" b="1" dirty="0" err="1">
                  <a:solidFill>
                    <a:srgbClr val="C00000"/>
                  </a:solidFill>
                </a:rPr>
                <a:t>các</a:t>
              </a:r>
              <a:r>
                <a:rPr lang="en-US" sz="2000" b="1" dirty="0">
                  <a:solidFill>
                    <a:srgbClr val="C00000"/>
                  </a:solidFill>
                </a:rPr>
                <a:t> CPU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6781800" y="3048000"/>
              <a:ext cx="1166949" cy="94923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6781800" y="3990703"/>
              <a:ext cx="1166949" cy="8948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6779621" y="4883330"/>
              <a:ext cx="1175659" cy="9427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553200" y="2971800"/>
              <a:ext cx="1600200" cy="37338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6889845" y="6019800"/>
              <a:ext cx="1034955" cy="40011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CPU0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3505200" cy="5334000"/>
          </a:xfrm>
        </p:spPr>
        <p:txBody>
          <a:bodyPr>
            <a:normAutofit/>
          </a:bodyPr>
          <a:lstStyle/>
          <a:p>
            <a:r>
              <a:rPr lang="en-US" sz="2800" dirty="0"/>
              <a:t>B4: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endParaRPr lang="en-US" sz="2800" dirty="0"/>
          </a:p>
          <a:p>
            <a:endParaRPr lang="en-US" sz="2800" dirty="0"/>
          </a:p>
          <a:p>
            <a:pPr>
              <a:buFontTx/>
              <a:buChar char="-"/>
            </a:pPr>
            <a:r>
              <a:rPr lang="en-US" sz="2800" i="1" dirty="0"/>
              <a:t>B4.1: </a:t>
            </a:r>
            <a:r>
              <a:rPr lang="en-US" sz="2800" i="1" dirty="0" err="1"/>
              <a:t>Truyền</a:t>
            </a:r>
            <a:r>
              <a:rPr lang="en-US" sz="2800" i="1" dirty="0"/>
              <a:t> </a:t>
            </a:r>
            <a:r>
              <a:rPr lang="en-US" sz="2800" i="1" dirty="0" err="1"/>
              <a:t>thông</a:t>
            </a:r>
            <a:endParaRPr lang="en-US" sz="2800" i="1" dirty="0"/>
          </a:p>
          <a:p>
            <a:pPr>
              <a:buFontTx/>
              <a:buChar char="-"/>
            </a:pPr>
            <a:r>
              <a:rPr lang="en-US" sz="2800" i="1" dirty="0"/>
              <a:t>B4.2: </a:t>
            </a:r>
            <a:r>
              <a:rPr lang="en-US" sz="2800" i="1" dirty="0" err="1"/>
              <a:t>Tính</a:t>
            </a:r>
            <a:r>
              <a:rPr lang="en-US" sz="2800" i="1" dirty="0"/>
              <a:t> </a:t>
            </a:r>
            <a:r>
              <a:rPr lang="en-US" sz="2800" i="1" dirty="0" err="1"/>
              <a:t>toán</a:t>
            </a:r>
            <a:endParaRPr lang="en-US" sz="2800" i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52400"/>
            <a:ext cx="8229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Giải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</a:t>
            </a:r>
            <a:r>
              <a:rPr kumimoji="0" lang="en-US" sz="3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thuật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song </a:t>
            </a:r>
            <a:r>
              <a:rPr kumimoji="0" lang="en-US" sz="3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song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SPMD 7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grpSp>
        <p:nvGrpSpPr>
          <p:cNvPr id="112" name="Group 111"/>
          <p:cNvGrpSpPr/>
          <p:nvPr/>
        </p:nvGrpSpPr>
        <p:grpSpPr>
          <a:xfrm>
            <a:off x="3804745" y="1981200"/>
            <a:ext cx="4729655" cy="3733800"/>
            <a:chOff x="2052145" y="1981200"/>
            <a:chExt cx="4729655" cy="3733800"/>
          </a:xfrm>
        </p:grpSpPr>
        <p:sp>
          <p:nvSpPr>
            <p:cNvPr id="11" name="Rectangle 10"/>
            <p:cNvSpPr/>
            <p:nvPr/>
          </p:nvSpPr>
          <p:spPr>
            <a:xfrm>
              <a:off x="3192517" y="2235751"/>
              <a:ext cx="3502572" cy="34020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3192517" y="3880335"/>
              <a:ext cx="3502572" cy="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192517" y="4224380"/>
              <a:ext cx="3502572" cy="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3192517" y="4916077"/>
              <a:ext cx="3502572" cy="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92517" y="4570229"/>
              <a:ext cx="3502572" cy="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3192517" y="5261927"/>
              <a:ext cx="3502572" cy="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3192517" y="2495139"/>
              <a:ext cx="3502572" cy="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192517" y="3186836"/>
              <a:ext cx="3502572" cy="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192517" y="2840987"/>
              <a:ext cx="3502572" cy="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192517" y="3532684"/>
              <a:ext cx="3502572" cy="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16200000" flipH="1">
              <a:off x="3646192" y="3935900"/>
              <a:ext cx="3402037" cy="17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16200000" flipH="1">
              <a:off x="4031090" y="3935900"/>
              <a:ext cx="3402037" cy="17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rot="16200000" flipH="1">
              <a:off x="4415989" y="3935900"/>
              <a:ext cx="3402037" cy="17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rot="16200000" flipH="1">
              <a:off x="2568479" y="3936801"/>
              <a:ext cx="3402037" cy="17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16200000" flipH="1">
              <a:off x="1798683" y="3936804"/>
              <a:ext cx="3402037" cy="17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16200000" flipH="1">
              <a:off x="2183580" y="3935901"/>
              <a:ext cx="3402037" cy="17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/>
            <p:cNvSpPr/>
            <p:nvPr/>
          </p:nvSpPr>
          <p:spPr>
            <a:xfrm>
              <a:off x="3826923" y="3431719"/>
              <a:ext cx="16679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4178832" y="3780037"/>
              <a:ext cx="166790" cy="17905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3837919" y="4128358"/>
              <a:ext cx="16679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3490410" y="3792389"/>
              <a:ext cx="166790" cy="17905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3824723" y="3780037"/>
              <a:ext cx="166790" cy="179055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8" name="Straight Connector 57"/>
            <p:cNvCxnSpPr/>
            <p:nvPr/>
          </p:nvCxnSpPr>
          <p:spPr>
            <a:xfrm rot="16200000" flipH="1">
              <a:off x="2973906" y="3909180"/>
              <a:ext cx="3402037" cy="17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16200000" flipH="1">
              <a:off x="3307485" y="3909179"/>
              <a:ext cx="3402037" cy="17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ectangle 94"/>
            <p:cNvSpPr/>
            <p:nvPr/>
          </p:nvSpPr>
          <p:spPr>
            <a:xfrm>
              <a:off x="2052145" y="3122022"/>
              <a:ext cx="4724400" cy="1188721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2133600" y="3352800"/>
              <a:ext cx="896007" cy="3693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CPU1</a:t>
              </a:r>
            </a:p>
          </p:txBody>
        </p:sp>
        <p:sp>
          <p:nvSpPr>
            <p:cNvPr id="97" name="Oval 96"/>
            <p:cNvSpPr/>
            <p:nvPr/>
          </p:nvSpPr>
          <p:spPr>
            <a:xfrm>
              <a:off x="4934716" y="2765001"/>
              <a:ext cx="16679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/>
            <p:cNvSpPr/>
            <p:nvPr/>
          </p:nvSpPr>
          <p:spPr>
            <a:xfrm>
              <a:off x="5286625" y="3113319"/>
              <a:ext cx="166790" cy="17905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/>
            <p:cNvSpPr/>
            <p:nvPr/>
          </p:nvSpPr>
          <p:spPr>
            <a:xfrm>
              <a:off x="4945713" y="3461640"/>
              <a:ext cx="16679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/>
            <p:cNvSpPr/>
            <p:nvPr/>
          </p:nvSpPr>
          <p:spPr>
            <a:xfrm>
              <a:off x="4598204" y="3125671"/>
              <a:ext cx="166790" cy="17905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/>
            <p:cNvSpPr/>
            <p:nvPr/>
          </p:nvSpPr>
          <p:spPr>
            <a:xfrm>
              <a:off x="4932516" y="3113319"/>
              <a:ext cx="166790" cy="179055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/>
            <p:cNvSpPr/>
            <p:nvPr/>
          </p:nvSpPr>
          <p:spPr>
            <a:xfrm>
              <a:off x="5662061" y="3771884"/>
              <a:ext cx="16679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/>
            <p:cNvSpPr/>
            <p:nvPr/>
          </p:nvSpPr>
          <p:spPr>
            <a:xfrm>
              <a:off x="6013970" y="4120202"/>
              <a:ext cx="166790" cy="17905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/>
            <p:cNvSpPr/>
            <p:nvPr/>
          </p:nvSpPr>
          <p:spPr>
            <a:xfrm>
              <a:off x="5673057" y="4468522"/>
              <a:ext cx="16679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/>
            <p:cNvSpPr/>
            <p:nvPr/>
          </p:nvSpPr>
          <p:spPr>
            <a:xfrm>
              <a:off x="5325548" y="4132554"/>
              <a:ext cx="166790" cy="17905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/>
            <p:cNvSpPr/>
            <p:nvPr/>
          </p:nvSpPr>
          <p:spPr>
            <a:xfrm>
              <a:off x="5659861" y="4120202"/>
              <a:ext cx="166790" cy="179055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2057400" y="4373879"/>
              <a:ext cx="4724400" cy="1341121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2057400" y="1981200"/>
              <a:ext cx="4724400" cy="1066800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2133600" y="2209800"/>
              <a:ext cx="896007" cy="3693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CPU0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2133600" y="4659868"/>
              <a:ext cx="896007" cy="3693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CPU2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3733800" cy="4572000"/>
          </a:xfrm>
        </p:spPr>
        <p:txBody>
          <a:bodyPr>
            <a:normAutofit/>
          </a:bodyPr>
          <a:lstStyle/>
          <a:p>
            <a:r>
              <a:rPr lang="en-US" sz="2800" dirty="0"/>
              <a:t>B4.1: </a:t>
            </a:r>
            <a:r>
              <a:rPr lang="en-US" sz="2800" dirty="0" err="1"/>
              <a:t>Truyền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endParaRPr lang="en-US" sz="2800" dirty="0"/>
          </a:p>
          <a:p>
            <a:endParaRPr lang="en-US" sz="2800" dirty="0"/>
          </a:p>
          <a:p>
            <a:pPr>
              <a:buFontTx/>
              <a:buChar char="-"/>
            </a:pPr>
            <a:r>
              <a:rPr lang="en-US" sz="2800" dirty="0"/>
              <a:t>B4.1a): </a:t>
            </a:r>
            <a:r>
              <a:rPr lang="en-US" sz="2800" dirty="0" err="1"/>
              <a:t>Truyền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</a:t>
            </a:r>
            <a:r>
              <a:rPr lang="en-US" sz="2800" dirty="0" err="1"/>
              <a:t>mảng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b="1" i="1" dirty="0">
                <a:solidFill>
                  <a:srgbClr val="C00000"/>
                </a:solidFill>
              </a:rPr>
              <a:t>Cu</a:t>
            </a:r>
          </a:p>
          <a:p>
            <a:pPr>
              <a:buFontTx/>
              <a:buChar char="-"/>
            </a:pPr>
            <a:r>
              <a:rPr lang="en-US" sz="2800" dirty="0"/>
              <a:t>B4.1b): </a:t>
            </a:r>
            <a:r>
              <a:rPr lang="en-US" sz="2800" dirty="0" err="1"/>
              <a:t>Truyền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</a:t>
            </a:r>
            <a:r>
              <a:rPr lang="en-US" sz="2800" dirty="0" err="1"/>
              <a:t>mảng</a:t>
            </a:r>
            <a:r>
              <a:rPr lang="en-US" sz="2800" dirty="0"/>
              <a:t> </a:t>
            </a:r>
            <a:r>
              <a:rPr lang="en-US" sz="2800" b="1" i="1" dirty="0" err="1">
                <a:solidFill>
                  <a:srgbClr val="FFC000"/>
                </a:solidFill>
              </a:rPr>
              <a:t>Cd</a:t>
            </a:r>
            <a:endParaRPr lang="en-US" sz="2800" b="1" i="1" dirty="0">
              <a:solidFill>
                <a:srgbClr val="FFC000"/>
              </a:solidFill>
            </a:endParaRPr>
          </a:p>
          <a:p>
            <a:pPr>
              <a:buFontTx/>
              <a:buChar char="-"/>
            </a:pPr>
            <a:endParaRPr lang="en-US" sz="2800" i="1" dirty="0"/>
          </a:p>
          <a:p>
            <a:pPr>
              <a:buNone/>
            </a:pPr>
            <a:endParaRPr lang="en-US" sz="28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52400"/>
            <a:ext cx="8229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Giải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</a:t>
            </a:r>
            <a:r>
              <a:rPr kumimoji="0" lang="en-US" sz="3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thuật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song </a:t>
            </a:r>
            <a:r>
              <a:rPr kumimoji="0" lang="en-US" sz="3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song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SPMD 8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grpSp>
        <p:nvGrpSpPr>
          <p:cNvPr id="235" name="Group 234"/>
          <p:cNvGrpSpPr/>
          <p:nvPr/>
        </p:nvGrpSpPr>
        <p:grpSpPr>
          <a:xfrm>
            <a:off x="3361068" y="1023282"/>
            <a:ext cx="5630532" cy="5722278"/>
            <a:chOff x="3361068" y="1023282"/>
            <a:chExt cx="5630532" cy="5722278"/>
          </a:xfrm>
        </p:grpSpPr>
        <p:sp>
          <p:nvSpPr>
            <p:cNvPr id="213" name="TextBox 212"/>
            <p:cNvSpPr txBox="1"/>
            <p:nvPr/>
          </p:nvSpPr>
          <p:spPr>
            <a:xfrm>
              <a:off x="7834221" y="2915083"/>
              <a:ext cx="10049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solidFill>
                    <a:srgbClr val="C00000"/>
                  </a:solidFill>
                </a:rPr>
                <a:t>Cu</a:t>
              </a: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7761657" y="1905000"/>
              <a:ext cx="10775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Cs</a:t>
              </a:r>
              <a:r>
                <a:rPr lang="en-US" sz="2400" baseline="-25000" dirty="0"/>
                <a:t>mc-1,j</a:t>
              </a:r>
              <a:endParaRPr lang="en-US" sz="2400" dirty="0"/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7834221" y="4567535"/>
              <a:ext cx="10049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err="1">
                  <a:solidFill>
                    <a:srgbClr val="FFC000"/>
                  </a:solidFill>
                </a:rPr>
                <a:t>Cd</a:t>
              </a:r>
              <a:endParaRPr lang="en-US" sz="2400" i="1" dirty="0">
                <a:solidFill>
                  <a:srgbClr val="FFC000"/>
                </a:solidFill>
              </a:endParaRPr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7834221" y="5429683"/>
              <a:ext cx="10049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Cs</a:t>
              </a:r>
              <a:r>
                <a:rPr lang="en-US" sz="2400" baseline="-25000" dirty="0"/>
                <a:t>0,j</a:t>
              </a:r>
              <a:endParaRPr lang="en-US" sz="2400" dirty="0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362747" y="5691824"/>
              <a:ext cx="3189321" cy="1042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5" name="Group 64"/>
            <p:cNvGrpSpPr/>
            <p:nvPr/>
          </p:nvGrpSpPr>
          <p:grpSpPr>
            <a:xfrm>
              <a:off x="4660913" y="5677989"/>
              <a:ext cx="2510155" cy="1067571"/>
              <a:chOff x="3498833" y="2209029"/>
              <a:chExt cx="2673367" cy="3429771"/>
            </a:xfrm>
          </p:grpSpPr>
          <p:cxnSp>
            <p:nvCxnSpPr>
              <p:cNvPr id="66" name="Straight Connector 65"/>
              <p:cNvCxnSpPr/>
              <p:nvPr/>
            </p:nvCxnSpPr>
            <p:spPr>
              <a:xfrm rot="16200000" flipH="1">
                <a:off x="3711507" y="3935900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rot="16200000" flipH="1">
                <a:off x="4089313" y="3936913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 rot="16200000" flipH="1">
                <a:off x="4470313" y="3936913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 rot="16200000" flipH="1">
                <a:off x="2568479" y="3936801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rot="16200000" flipH="1">
                <a:off x="1798683" y="3936804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 rot="16200000" flipH="1">
                <a:off x="2183580" y="3935901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rot="16200000" flipH="1">
                <a:off x="2973906" y="3909180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 rot="16200000" flipH="1">
                <a:off x="3359737" y="3909179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Rectangle 10"/>
            <p:cNvSpPr/>
            <p:nvPr/>
          </p:nvSpPr>
          <p:spPr>
            <a:xfrm>
              <a:off x="4351935" y="1233035"/>
              <a:ext cx="3200300" cy="1042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4351935" y="1570625"/>
              <a:ext cx="3200300" cy="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4351935" y="1916473"/>
              <a:ext cx="3200300" cy="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Group 44"/>
            <p:cNvGrpSpPr/>
            <p:nvPr/>
          </p:nvGrpSpPr>
          <p:grpSpPr>
            <a:xfrm>
              <a:off x="4643632" y="1219200"/>
              <a:ext cx="2545785" cy="1067571"/>
              <a:chOff x="3498833" y="2209029"/>
              <a:chExt cx="2673367" cy="3429771"/>
            </a:xfrm>
          </p:grpSpPr>
          <p:cxnSp>
            <p:nvCxnSpPr>
              <p:cNvPr id="22" name="Straight Connector 21"/>
              <p:cNvCxnSpPr/>
              <p:nvPr/>
            </p:nvCxnSpPr>
            <p:spPr>
              <a:xfrm rot="16200000" flipH="1">
                <a:off x="3711507" y="3935900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rot="16200000" flipH="1">
                <a:off x="4089313" y="3936913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 rot="16200000" flipH="1">
                <a:off x="4470313" y="3936913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 rot="16200000" flipH="1">
                <a:off x="2568479" y="3936801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rot="16200000" flipH="1">
                <a:off x="1798683" y="3936804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rot="16200000" flipH="1">
                <a:off x="2183580" y="3935901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 rot="16200000" flipH="1">
                <a:off x="2973906" y="3909180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rot="16200000" flipH="1">
                <a:off x="3359737" y="3909179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Oval 101"/>
            <p:cNvSpPr/>
            <p:nvPr/>
          </p:nvSpPr>
          <p:spPr>
            <a:xfrm>
              <a:off x="8497655" y="1023282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/>
            <p:cNvSpPr/>
            <p:nvPr/>
          </p:nvSpPr>
          <p:spPr>
            <a:xfrm>
              <a:off x="8832770" y="1371600"/>
              <a:ext cx="158830" cy="17905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/>
            <p:cNvSpPr/>
            <p:nvPr/>
          </p:nvSpPr>
          <p:spPr>
            <a:xfrm>
              <a:off x="8508126" y="1719920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/>
            <p:cNvSpPr/>
            <p:nvPr/>
          </p:nvSpPr>
          <p:spPr>
            <a:xfrm>
              <a:off x="8177202" y="1383952"/>
              <a:ext cx="158830" cy="17905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/>
            <p:cNvSpPr/>
            <p:nvPr/>
          </p:nvSpPr>
          <p:spPr>
            <a:xfrm>
              <a:off x="8495560" y="1371600"/>
              <a:ext cx="158830" cy="179055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3361068" y="1524771"/>
              <a:ext cx="853247" cy="3693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CPU0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351935" y="3518264"/>
              <a:ext cx="3200300" cy="1042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Connector 47"/>
            <p:cNvCxnSpPr/>
            <p:nvPr/>
          </p:nvCxnSpPr>
          <p:spPr>
            <a:xfrm>
              <a:off x="4351935" y="3855854"/>
              <a:ext cx="3200300" cy="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4351935" y="4201702"/>
              <a:ext cx="3200300" cy="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oup 49"/>
            <p:cNvGrpSpPr/>
            <p:nvPr/>
          </p:nvGrpSpPr>
          <p:grpSpPr>
            <a:xfrm>
              <a:off x="4643632" y="3504429"/>
              <a:ext cx="2545785" cy="1067571"/>
              <a:chOff x="3498833" y="2209029"/>
              <a:chExt cx="2673367" cy="3429771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 rot="16200000" flipH="1">
                <a:off x="3711507" y="3935900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 rot="16200000" flipH="1">
                <a:off x="4089313" y="3936913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 rot="16200000" flipH="1">
                <a:off x="4470313" y="3936913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 rot="16200000" flipH="1">
                <a:off x="2568479" y="3936801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 rot="16200000" flipH="1">
                <a:off x="1798683" y="3936804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 rot="16200000" flipH="1">
                <a:off x="2183580" y="3935901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 rot="16200000" flipH="1">
                <a:off x="2973906" y="3909180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 rot="16200000" flipH="1">
                <a:off x="3359737" y="3909179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TextBox 60"/>
            <p:cNvSpPr txBox="1"/>
            <p:nvPr/>
          </p:nvSpPr>
          <p:spPr>
            <a:xfrm>
              <a:off x="3361068" y="3810000"/>
              <a:ext cx="853247" cy="3693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CPU1</a:t>
              </a:r>
            </a:p>
          </p:txBody>
        </p:sp>
        <p:cxnSp>
          <p:nvCxnSpPr>
            <p:cNvPr id="63" name="Straight Connector 62"/>
            <p:cNvCxnSpPr/>
            <p:nvPr/>
          </p:nvCxnSpPr>
          <p:spPr>
            <a:xfrm>
              <a:off x="4362747" y="6029414"/>
              <a:ext cx="3200300" cy="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362747" y="6375262"/>
              <a:ext cx="3200300" cy="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3361068" y="5983560"/>
              <a:ext cx="853247" cy="3693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CPU2</a:t>
              </a:r>
            </a:p>
          </p:txBody>
        </p:sp>
        <p:sp>
          <p:nvSpPr>
            <p:cNvPr id="75" name="Oval 74"/>
            <p:cNvSpPr/>
            <p:nvPr/>
          </p:nvSpPr>
          <p:spPr>
            <a:xfrm>
              <a:off x="4286878" y="2185852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/>
            <p:cNvSpPr/>
            <p:nvPr/>
          </p:nvSpPr>
          <p:spPr>
            <a:xfrm>
              <a:off x="4563429" y="2196737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/>
            <p:cNvSpPr/>
            <p:nvPr/>
          </p:nvSpPr>
          <p:spPr>
            <a:xfrm>
              <a:off x="4926246" y="2196737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/>
            <p:cNvSpPr/>
            <p:nvPr/>
          </p:nvSpPr>
          <p:spPr>
            <a:xfrm>
              <a:off x="5289064" y="2196737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/>
            <p:cNvSpPr/>
            <p:nvPr/>
          </p:nvSpPr>
          <p:spPr>
            <a:xfrm>
              <a:off x="5689200" y="2196737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/>
            <p:nvPr/>
          </p:nvSpPr>
          <p:spPr>
            <a:xfrm>
              <a:off x="6062383" y="2196737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>
              <a:off x="6377516" y="2196737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/>
            <p:cNvSpPr/>
            <p:nvPr/>
          </p:nvSpPr>
          <p:spPr>
            <a:xfrm>
              <a:off x="6740333" y="2196737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>
            <a:xfrm>
              <a:off x="7115590" y="2196737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/>
            <p:cNvSpPr/>
            <p:nvPr/>
          </p:nvSpPr>
          <p:spPr>
            <a:xfrm>
              <a:off x="7472190" y="2183674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/>
            <p:cNvSpPr/>
            <p:nvPr/>
          </p:nvSpPr>
          <p:spPr>
            <a:xfrm>
              <a:off x="4286878" y="2463997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/>
            <p:nvPr/>
          </p:nvSpPr>
          <p:spPr>
            <a:xfrm>
              <a:off x="4563429" y="2474882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/>
            <p:nvPr/>
          </p:nvSpPr>
          <p:spPr>
            <a:xfrm>
              <a:off x="4926246" y="2474882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/>
            <p:cNvSpPr/>
            <p:nvPr/>
          </p:nvSpPr>
          <p:spPr>
            <a:xfrm>
              <a:off x="5289064" y="2474882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/>
            <p:cNvSpPr/>
            <p:nvPr/>
          </p:nvSpPr>
          <p:spPr>
            <a:xfrm>
              <a:off x="5689200" y="2474882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/>
            <p:cNvSpPr/>
            <p:nvPr/>
          </p:nvSpPr>
          <p:spPr>
            <a:xfrm>
              <a:off x="6062383" y="2474882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/>
            <p:cNvSpPr/>
            <p:nvPr/>
          </p:nvSpPr>
          <p:spPr>
            <a:xfrm>
              <a:off x="6377516" y="2474882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/>
            <p:cNvSpPr/>
            <p:nvPr/>
          </p:nvSpPr>
          <p:spPr>
            <a:xfrm>
              <a:off x="6740333" y="2474882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/>
            <p:cNvSpPr/>
            <p:nvPr/>
          </p:nvSpPr>
          <p:spPr>
            <a:xfrm>
              <a:off x="7115590" y="2474882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/>
            <p:cNvSpPr/>
            <p:nvPr/>
          </p:nvSpPr>
          <p:spPr>
            <a:xfrm>
              <a:off x="7472190" y="2461819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/>
            <p:cNvSpPr/>
            <p:nvPr/>
          </p:nvSpPr>
          <p:spPr>
            <a:xfrm>
              <a:off x="4282730" y="3101901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/>
            <p:cNvSpPr/>
            <p:nvPr/>
          </p:nvSpPr>
          <p:spPr>
            <a:xfrm>
              <a:off x="4559281" y="3112786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/>
            <p:cNvSpPr/>
            <p:nvPr/>
          </p:nvSpPr>
          <p:spPr>
            <a:xfrm>
              <a:off x="4922098" y="3112786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/>
            <p:cNvSpPr/>
            <p:nvPr/>
          </p:nvSpPr>
          <p:spPr>
            <a:xfrm>
              <a:off x="5284915" y="3112786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/>
            <p:cNvSpPr/>
            <p:nvPr/>
          </p:nvSpPr>
          <p:spPr>
            <a:xfrm>
              <a:off x="5685052" y="3112786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/>
            <p:cNvSpPr/>
            <p:nvPr/>
          </p:nvSpPr>
          <p:spPr>
            <a:xfrm>
              <a:off x="6058235" y="3112786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/>
            <p:cNvSpPr/>
            <p:nvPr/>
          </p:nvSpPr>
          <p:spPr>
            <a:xfrm>
              <a:off x="6373368" y="3112786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/>
            <p:cNvSpPr/>
            <p:nvPr/>
          </p:nvSpPr>
          <p:spPr>
            <a:xfrm>
              <a:off x="6736185" y="3112786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/>
            <p:cNvSpPr/>
            <p:nvPr/>
          </p:nvSpPr>
          <p:spPr>
            <a:xfrm>
              <a:off x="7111442" y="3112786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/>
            <p:cNvSpPr/>
            <p:nvPr/>
          </p:nvSpPr>
          <p:spPr>
            <a:xfrm>
              <a:off x="7468042" y="3099723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/>
            <p:cNvSpPr/>
            <p:nvPr/>
          </p:nvSpPr>
          <p:spPr>
            <a:xfrm>
              <a:off x="4280656" y="3397994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/>
            <p:cNvSpPr/>
            <p:nvPr/>
          </p:nvSpPr>
          <p:spPr>
            <a:xfrm>
              <a:off x="4557207" y="3408879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Oval 122"/>
            <p:cNvSpPr/>
            <p:nvPr/>
          </p:nvSpPr>
          <p:spPr>
            <a:xfrm>
              <a:off x="4920024" y="3408879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/>
            <p:cNvSpPr/>
            <p:nvPr/>
          </p:nvSpPr>
          <p:spPr>
            <a:xfrm>
              <a:off x="5282841" y="3408879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/>
            <p:cNvSpPr/>
            <p:nvPr/>
          </p:nvSpPr>
          <p:spPr>
            <a:xfrm>
              <a:off x="5682978" y="3408879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/>
            <p:cNvSpPr/>
            <p:nvPr/>
          </p:nvSpPr>
          <p:spPr>
            <a:xfrm>
              <a:off x="6056161" y="3408879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/>
            <p:cNvSpPr/>
            <p:nvPr/>
          </p:nvSpPr>
          <p:spPr>
            <a:xfrm>
              <a:off x="6371294" y="3408879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/>
            <p:cNvSpPr/>
            <p:nvPr/>
          </p:nvSpPr>
          <p:spPr>
            <a:xfrm>
              <a:off x="6734111" y="3408879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/>
            <p:cNvSpPr/>
            <p:nvPr/>
          </p:nvSpPr>
          <p:spPr>
            <a:xfrm>
              <a:off x="7109368" y="3408879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/>
            <p:cNvSpPr/>
            <p:nvPr/>
          </p:nvSpPr>
          <p:spPr>
            <a:xfrm>
              <a:off x="7465968" y="3395816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Oval 171"/>
            <p:cNvSpPr/>
            <p:nvPr/>
          </p:nvSpPr>
          <p:spPr>
            <a:xfrm>
              <a:off x="4278587" y="4389118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/>
            <p:cNvSpPr/>
            <p:nvPr/>
          </p:nvSpPr>
          <p:spPr>
            <a:xfrm>
              <a:off x="4555137" y="4400003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Oval 173"/>
            <p:cNvSpPr/>
            <p:nvPr/>
          </p:nvSpPr>
          <p:spPr>
            <a:xfrm>
              <a:off x="4917955" y="4400003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/>
            <p:cNvSpPr/>
            <p:nvPr/>
          </p:nvSpPr>
          <p:spPr>
            <a:xfrm>
              <a:off x="5280772" y="4400003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Oval 175"/>
            <p:cNvSpPr/>
            <p:nvPr/>
          </p:nvSpPr>
          <p:spPr>
            <a:xfrm>
              <a:off x="5680908" y="4400003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Oval 176"/>
            <p:cNvSpPr/>
            <p:nvPr/>
          </p:nvSpPr>
          <p:spPr>
            <a:xfrm>
              <a:off x="6054091" y="4400003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Oval 177"/>
            <p:cNvSpPr/>
            <p:nvPr/>
          </p:nvSpPr>
          <p:spPr>
            <a:xfrm>
              <a:off x="6369224" y="4400003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Oval 178"/>
            <p:cNvSpPr/>
            <p:nvPr/>
          </p:nvSpPr>
          <p:spPr>
            <a:xfrm>
              <a:off x="6732042" y="4400003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Oval 179"/>
            <p:cNvSpPr/>
            <p:nvPr/>
          </p:nvSpPr>
          <p:spPr>
            <a:xfrm>
              <a:off x="7107299" y="4400003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Oval 180"/>
            <p:cNvSpPr/>
            <p:nvPr/>
          </p:nvSpPr>
          <p:spPr>
            <a:xfrm>
              <a:off x="7463899" y="4386940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Oval 181"/>
            <p:cNvSpPr/>
            <p:nvPr/>
          </p:nvSpPr>
          <p:spPr>
            <a:xfrm>
              <a:off x="4278587" y="4654200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Oval 182"/>
            <p:cNvSpPr/>
            <p:nvPr/>
          </p:nvSpPr>
          <p:spPr>
            <a:xfrm>
              <a:off x="4555137" y="466508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/>
            <p:cNvSpPr/>
            <p:nvPr/>
          </p:nvSpPr>
          <p:spPr>
            <a:xfrm>
              <a:off x="4917955" y="466508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/>
            <p:cNvSpPr/>
            <p:nvPr/>
          </p:nvSpPr>
          <p:spPr>
            <a:xfrm>
              <a:off x="5280772" y="466508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/>
            <p:cNvSpPr/>
            <p:nvPr/>
          </p:nvSpPr>
          <p:spPr>
            <a:xfrm>
              <a:off x="5680908" y="466508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Oval 186"/>
            <p:cNvSpPr/>
            <p:nvPr/>
          </p:nvSpPr>
          <p:spPr>
            <a:xfrm>
              <a:off x="6054091" y="466508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Oval 187"/>
            <p:cNvSpPr/>
            <p:nvPr/>
          </p:nvSpPr>
          <p:spPr>
            <a:xfrm>
              <a:off x="6369224" y="466508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/>
            <p:cNvSpPr/>
            <p:nvPr/>
          </p:nvSpPr>
          <p:spPr>
            <a:xfrm>
              <a:off x="6732042" y="466508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/>
            <p:cNvSpPr/>
            <p:nvPr/>
          </p:nvSpPr>
          <p:spPr>
            <a:xfrm>
              <a:off x="7107299" y="466508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/>
            <p:cNvSpPr/>
            <p:nvPr/>
          </p:nvSpPr>
          <p:spPr>
            <a:xfrm>
              <a:off x="7463899" y="4652022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/>
            <p:cNvSpPr/>
            <p:nvPr/>
          </p:nvSpPr>
          <p:spPr>
            <a:xfrm>
              <a:off x="4274438" y="5305167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/>
            <p:cNvSpPr/>
            <p:nvPr/>
          </p:nvSpPr>
          <p:spPr>
            <a:xfrm>
              <a:off x="4550989" y="5316052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/>
            <p:cNvSpPr/>
            <p:nvPr/>
          </p:nvSpPr>
          <p:spPr>
            <a:xfrm>
              <a:off x="4913807" y="5316052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/>
            <p:cNvSpPr/>
            <p:nvPr/>
          </p:nvSpPr>
          <p:spPr>
            <a:xfrm>
              <a:off x="5276624" y="5316052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/>
            <p:cNvSpPr/>
            <p:nvPr/>
          </p:nvSpPr>
          <p:spPr>
            <a:xfrm>
              <a:off x="5676760" y="5316052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/>
            <p:cNvSpPr/>
            <p:nvPr/>
          </p:nvSpPr>
          <p:spPr>
            <a:xfrm>
              <a:off x="6049943" y="5316052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/>
            <p:cNvSpPr/>
            <p:nvPr/>
          </p:nvSpPr>
          <p:spPr>
            <a:xfrm>
              <a:off x="6365076" y="5316052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/>
            <p:cNvSpPr/>
            <p:nvPr/>
          </p:nvSpPr>
          <p:spPr>
            <a:xfrm>
              <a:off x="6727894" y="5316052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/>
            <p:cNvSpPr/>
            <p:nvPr/>
          </p:nvSpPr>
          <p:spPr>
            <a:xfrm>
              <a:off x="7103151" y="5316052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/>
            <p:cNvSpPr/>
            <p:nvPr/>
          </p:nvSpPr>
          <p:spPr>
            <a:xfrm>
              <a:off x="7459751" y="5302989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/>
            <p:cNvSpPr/>
            <p:nvPr/>
          </p:nvSpPr>
          <p:spPr>
            <a:xfrm>
              <a:off x="4272364" y="5601260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/>
            <p:cNvSpPr/>
            <p:nvPr/>
          </p:nvSpPr>
          <p:spPr>
            <a:xfrm>
              <a:off x="4548915" y="561214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/>
            <p:cNvSpPr/>
            <p:nvPr/>
          </p:nvSpPr>
          <p:spPr>
            <a:xfrm>
              <a:off x="4911733" y="561214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/>
            <p:cNvSpPr/>
            <p:nvPr/>
          </p:nvSpPr>
          <p:spPr>
            <a:xfrm>
              <a:off x="5274550" y="561214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/>
            <p:cNvSpPr/>
            <p:nvPr/>
          </p:nvSpPr>
          <p:spPr>
            <a:xfrm>
              <a:off x="5674686" y="561214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/>
            <p:cNvSpPr/>
            <p:nvPr/>
          </p:nvSpPr>
          <p:spPr>
            <a:xfrm>
              <a:off x="6047869" y="561214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/>
            <p:cNvSpPr/>
            <p:nvPr/>
          </p:nvSpPr>
          <p:spPr>
            <a:xfrm>
              <a:off x="6363002" y="561214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/>
            <p:cNvSpPr/>
            <p:nvPr/>
          </p:nvSpPr>
          <p:spPr>
            <a:xfrm>
              <a:off x="6725820" y="561214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/>
            <p:cNvSpPr/>
            <p:nvPr/>
          </p:nvSpPr>
          <p:spPr>
            <a:xfrm>
              <a:off x="7101077" y="561214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/>
            <p:cNvSpPr/>
            <p:nvPr/>
          </p:nvSpPr>
          <p:spPr>
            <a:xfrm>
              <a:off x="7457677" y="5599082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ectangle 211"/>
            <p:cNvSpPr/>
            <p:nvPr/>
          </p:nvSpPr>
          <p:spPr>
            <a:xfrm>
              <a:off x="4141751" y="2971800"/>
              <a:ext cx="4789190" cy="381000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4141751" y="2011791"/>
              <a:ext cx="4789190" cy="381000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Rectangle 215"/>
            <p:cNvSpPr/>
            <p:nvPr/>
          </p:nvSpPr>
          <p:spPr>
            <a:xfrm>
              <a:off x="4141751" y="4624252"/>
              <a:ext cx="4789190" cy="381000"/>
            </a:xfrm>
            <a:prstGeom prst="rect">
              <a:avLst/>
            </a:prstGeom>
            <a:noFill/>
            <a:ln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4141751" y="5538652"/>
              <a:ext cx="4789190" cy="381000"/>
            </a:xfrm>
            <a:prstGeom prst="rect">
              <a:avLst/>
            </a:prstGeom>
            <a:noFill/>
            <a:ln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2" name="Straight Arrow Connector 221"/>
            <p:cNvCxnSpPr/>
            <p:nvPr/>
          </p:nvCxnSpPr>
          <p:spPr>
            <a:xfrm rot="5400000">
              <a:off x="4701215" y="2743219"/>
              <a:ext cx="913606" cy="756"/>
            </a:xfrm>
            <a:prstGeom prst="straightConnector1">
              <a:avLst/>
            </a:prstGeom>
            <a:ln w="50800"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Arrow Connector 222"/>
            <p:cNvCxnSpPr/>
            <p:nvPr/>
          </p:nvCxnSpPr>
          <p:spPr>
            <a:xfrm rot="5400000">
              <a:off x="4682691" y="5009938"/>
              <a:ext cx="951411" cy="1512"/>
            </a:xfrm>
            <a:prstGeom prst="straightConnector1">
              <a:avLst/>
            </a:prstGeom>
            <a:ln w="50800"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Arrow Connector 225"/>
            <p:cNvCxnSpPr/>
            <p:nvPr/>
          </p:nvCxnSpPr>
          <p:spPr>
            <a:xfrm rot="5400000">
              <a:off x="5460160" y="3009522"/>
              <a:ext cx="990600" cy="756"/>
            </a:xfrm>
            <a:prstGeom prst="straightConnector1">
              <a:avLst/>
            </a:prstGeom>
            <a:ln w="50800">
              <a:solidFill>
                <a:srgbClr val="FFC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Arrow Connector 227"/>
            <p:cNvCxnSpPr/>
            <p:nvPr/>
          </p:nvCxnSpPr>
          <p:spPr>
            <a:xfrm rot="5400000">
              <a:off x="5460916" y="5232385"/>
              <a:ext cx="990600" cy="756"/>
            </a:xfrm>
            <a:prstGeom prst="straightConnector1">
              <a:avLst/>
            </a:prstGeom>
            <a:ln w="50800">
              <a:solidFill>
                <a:srgbClr val="FFC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6248400" cy="533400"/>
          </a:xfrm>
        </p:spPr>
        <p:txBody>
          <a:bodyPr>
            <a:normAutofit/>
          </a:bodyPr>
          <a:lstStyle/>
          <a:p>
            <a:r>
              <a:rPr lang="en-US" sz="2800" dirty="0"/>
              <a:t>B4.1a): </a:t>
            </a:r>
            <a:r>
              <a:rPr lang="en-US" sz="2800" dirty="0" err="1"/>
              <a:t>Truyền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</a:t>
            </a:r>
            <a:r>
              <a:rPr lang="en-US" sz="2800" dirty="0" err="1"/>
              <a:t>mảng</a:t>
            </a:r>
            <a:r>
              <a:rPr lang="en-US" sz="2800" dirty="0"/>
              <a:t> </a:t>
            </a:r>
            <a:r>
              <a:rPr lang="en-US" sz="2800" b="1" i="1" dirty="0">
                <a:solidFill>
                  <a:schemeClr val="accent2"/>
                </a:solidFill>
              </a:rPr>
              <a:t>Cu</a:t>
            </a:r>
            <a:r>
              <a:rPr lang="en-US" sz="2800" dirty="0"/>
              <a:t>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52400"/>
            <a:ext cx="8229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Giải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</a:t>
            </a:r>
            <a:r>
              <a:rPr kumimoji="0" lang="en-US" sz="3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thuật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song </a:t>
            </a:r>
            <a:r>
              <a:rPr kumimoji="0" lang="en-US" sz="3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song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SPMD 9 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sp>
        <p:nvSpPr>
          <p:cNvPr id="320" name="Rectangle 319"/>
          <p:cNvSpPr/>
          <p:nvPr/>
        </p:nvSpPr>
        <p:spPr>
          <a:xfrm>
            <a:off x="609600" y="1689080"/>
            <a:ext cx="8229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if (rank==0){</a:t>
            </a:r>
          </a:p>
          <a:p>
            <a:r>
              <a:rPr lang="en-US" sz="2400" dirty="0"/>
              <a:t>    for (j=0; j&lt;n; j++)  *(</a:t>
            </a:r>
            <a:r>
              <a:rPr lang="en-US" sz="2400" dirty="0" err="1"/>
              <a:t>Cu+j</a:t>
            </a:r>
            <a:r>
              <a:rPr lang="en-US" sz="2400" dirty="0"/>
              <a:t>) = *(Cs+0*</a:t>
            </a:r>
            <a:r>
              <a:rPr lang="en-US" sz="2400" dirty="0" err="1"/>
              <a:t>n+j</a:t>
            </a:r>
            <a:r>
              <a:rPr lang="en-US" sz="2400" dirty="0"/>
              <a:t>);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MPI_Send</a:t>
            </a:r>
            <a:r>
              <a:rPr lang="en-US" sz="2400" dirty="0"/>
              <a:t> (Cs+(mc- 1)*n, n, MPI_FLOAT, rank+1, rank, …);</a:t>
            </a:r>
          </a:p>
          <a:p>
            <a:r>
              <a:rPr lang="en-US" sz="2400" dirty="0"/>
              <a:t>  } else if (rank==NP-1) {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MPI_Recv</a:t>
            </a:r>
            <a:r>
              <a:rPr lang="en-US" sz="2400" dirty="0"/>
              <a:t> (Cu, n, MPI_FLOAT, rank-1, rank-1, …);</a:t>
            </a:r>
          </a:p>
          <a:p>
            <a:r>
              <a:rPr lang="en-US" sz="2400" dirty="0"/>
              <a:t>  } else {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MPI_Send</a:t>
            </a:r>
            <a:r>
              <a:rPr lang="en-US" sz="2400" dirty="0"/>
              <a:t> (Cs+(mc-1)*n, n, MPI_FLOAT, rank+1, rank,…);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MPI_Recv</a:t>
            </a:r>
            <a:r>
              <a:rPr lang="en-US" sz="2400" dirty="0"/>
              <a:t>(Cu, n, MPI_FLOAT, rank-1, rank-1, …);</a:t>
            </a:r>
          </a:p>
          <a:p>
            <a:r>
              <a:rPr lang="en-US" sz="2400" dirty="0"/>
              <a:t>  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roup 136"/>
          <p:cNvGrpSpPr/>
          <p:nvPr/>
        </p:nvGrpSpPr>
        <p:grpSpPr>
          <a:xfrm>
            <a:off x="1981200" y="685800"/>
            <a:ext cx="5630532" cy="5722278"/>
            <a:chOff x="3361068" y="1023282"/>
            <a:chExt cx="5630532" cy="5722278"/>
          </a:xfrm>
        </p:grpSpPr>
        <p:sp>
          <p:nvSpPr>
            <p:cNvPr id="138" name="TextBox 137"/>
            <p:cNvSpPr txBox="1"/>
            <p:nvPr/>
          </p:nvSpPr>
          <p:spPr>
            <a:xfrm>
              <a:off x="7834221" y="2915083"/>
              <a:ext cx="10049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solidFill>
                    <a:srgbClr val="C00000"/>
                  </a:solidFill>
                </a:rPr>
                <a:t>Cu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7761657" y="1905000"/>
              <a:ext cx="10775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Cs</a:t>
              </a:r>
              <a:r>
                <a:rPr lang="en-US" sz="2400" baseline="-25000" dirty="0"/>
                <a:t>mc-1,j</a:t>
              </a:r>
              <a:endParaRPr lang="en-US" sz="2400" dirty="0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7834221" y="4567535"/>
              <a:ext cx="10049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err="1">
                  <a:solidFill>
                    <a:srgbClr val="FFC000"/>
                  </a:solidFill>
                </a:rPr>
                <a:t>Cd</a:t>
              </a:r>
              <a:endParaRPr lang="en-US" sz="2400" i="1" dirty="0">
                <a:solidFill>
                  <a:srgbClr val="FFC000"/>
                </a:solidFill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7834221" y="5429683"/>
              <a:ext cx="10049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Cs</a:t>
              </a:r>
              <a:r>
                <a:rPr lang="en-US" sz="2400" baseline="-25000" dirty="0"/>
                <a:t>0,j</a:t>
              </a:r>
              <a:endParaRPr lang="en-US" sz="2400" dirty="0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4362747" y="5691824"/>
              <a:ext cx="3189321" cy="1042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3" name="Group 64"/>
            <p:cNvGrpSpPr/>
            <p:nvPr/>
          </p:nvGrpSpPr>
          <p:grpSpPr>
            <a:xfrm>
              <a:off x="4661000" y="5677987"/>
              <a:ext cx="2510221" cy="1067569"/>
              <a:chOff x="3498833" y="2209029"/>
              <a:chExt cx="2673367" cy="3429771"/>
            </a:xfrm>
          </p:grpSpPr>
          <p:cxnSp>
            <p:nvCxnSpPr>
              <p:cNvPr id="266" name="Straight Connector 265"/>
              <p:cNvCxnSpPr/>
              <p:nvPr/>
            </p:nvCxnSpPr>
            <p:spPr>
              <a:xfrm rot="16200000" flipH="1">
                <a:off x="3711507" y="3935900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Straight Connector 266"/>
              <p:cNvCxnSpPr/>
              <p:nvPr/>
            </p:nvCxnSpPr>
            <p:spPr>
              <a:xfrm rot="16200000" flipH="1">
                <a:off x="4089313" y="3936913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Straight Connector 267"/>
              <p:cNvCxnSpPr/>
              <p:nvPr/>
            </p:nvCxnSpPr>
            <p:spPr>
              <a:xfrm rot="16200000" flipH="1">
                <a:off x="4470313" y="3936913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/>
              <p:cNvCxnSpPr/>
              <p:nvPr/>
            </p:nvCxnSpPr>
            <p:spPr>
              <a:xfrm rot="16200000" flipH="1">
                <a:off x="2568479" y="3936801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Connector 269"/>
              <p:cNvCxnSpPr/>
              <p:nvPr/>
            </p:nvCxnSpPr>
            <p:spPr>
              <a:xfrm rot="16200000" flipH="1">
                <a:off x="1798683" y="3936804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Straight Connector 270"/>
              <p:cNvCxnSpPr/>
              <p:nvPr/>
            </p:nvCxnSpPr>
            <p:spPr>
              <a:xfrm rot="16200000" flipH="1">
                <a:off x="2183580" y="3935901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Straight Connector 271"/>
              <p:cNvCxnSpPr/>
              <p:nvPr/>
            </p:nvCxnSpPr>
            <p:spPr>
              <a:xfrm rot="16200000" flipH="1">
                <a:off x="2973906" y="3909180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Straight Connector 272"/>
              <p:cNvCxnSpPr/>
              <p:nvPr/>
            </p:nvCxnSpPr>
            <p:spPr>
              <a:xfrm rot="16200000" flipH="1">
                <a:off x="3359737" y="3909179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4" name="Rectangle 143"/>
            <p:cNvSpPr/>
            <p:nvPr/>
          </p:nvSpPr>
          <p:spPr>
            <a:xfrm>
              <a:off x="4351935" y="1233035"/>
              <a:ext cx="3200300" cy="1042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/>
            <p:nvPr/>
          </p:nvCxnSpPr>
          <p:spPr>
            <a:xfrm>
              <a:off x="4351935" y="1570625"/>
              <a:ext cx="3200300" cy="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>
              <a:off x="4351935" y="1916473"/>
              <a:ext cx="3200300" cy="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7" name="Group 44"/>
            <p:cNvGrpSpPr/>
            <p:nvPr/>
          </p:nvGrpSpPr>
          <p:grpSpPr>
            <a:xfrm>
              <a:off x="4643419" y="1219198"/>
              <a:ext cx="2545622" cy="1067569"/>
              <a:chOff x="3498833" y="2209029"/>
              <a:chExt cx="2673367" cy="3429771"/>
            </a:xfrm>
          </p:grpSpPr>
          <p:cxnSp>
            <p:nvCxnSpPr>
              <p:cNvPr id="258" name="Straight Connector 21"/>
              <p:cNvCxnSpPr/>
              <p:nvPr/>
            </p:nvCxnSpPr>
            <p:spPr>
              <a:xfrm rot="16200000" flipH="1">
                <a:off x="3711507" y="3935900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/>
              <p:cNvCxnSpPr/>
              <p:nvPr/>
            </p:nvCxnSpPr>
            <p:spPr>
              <a:xfrm rot="16200000" flipH="1">
                <a:off x="4089313" y="3936913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Connector 259"/>
              <p:cNvCxnSpPr/>
              <p:nvPr/>
            </p:nvCxnSpPr>
            <p:spPr>
              <a:xfrm rot="16200000" flipH="1">
                <a:off x="4470313" y="3936913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Straight Connector 260"/>
              <p:cNvCxnSpPr/>
              <p:nvPr/>
            </p:nvCxnSpPr>
            <p:spPr>
              <a:xfrm rot="16200000" flipH="1">
                <a:off x="2568479" y="3936801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/>
              <p:cNvCxnSpPr/>
              <p:nvPr/>
            </p:nvCxnSpPr>
            <p:spPr>
              <a:xfrm rot="16200000" flipH="1">
                <a:off x="1798683" y="3936804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/>
              <p:cNvCxnSpPr/>
              <p:nvPr/>
            </p:nvCxnSpPr>
            <p:spPr>
              <a:xfrm rot="16200000" flipH="1">
                <a:off x="2183580" y="3935901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Straight Connector 263"/>
              <p:cNvCxnSpPr/>
              <p:nvPr/>
            </p:nvCxnSpPr>
            <p:spPr>
              <a:xfrm rot="16200000" flipH="1">
                <a:off x="2973906" y="3909180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/>
              <p:cNvCxnSpPr/>
              <p:nvPr/>
            </p:nvCxnSpPr>
            <p:spPr>
              <a:xfrm rot="16200000" flipH="1">
                <a:off x="3359737" y="3909179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8" name="Oval 147"/>
            <p:cNvSpPr/>
            <p:nvPr/>
          </p:nvSpPr>
          <p:spPr>
            <a:xfrm>
              <a:off x="8497655" y="1023282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/>
            <p:cNvSpPr/>
            <p:nvPr/>
          </p:nvSpPr>
          <p:spPr>
            <a:xfrm>
              <a:off x="8832770" y="1371600"/>
              <a:ext cx="158830" cy="179055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Oval 149"/>
            <p:cNvSpPr/>
            <p:nvPr/>
          </p:nvSpPr>
          <p:spPr>
            <a:xfrm>
              <a:off x="8508126" y="1719920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Oval 150"/>
            <p:cNvSpPr/>
            <p:nvPr/>
          </p:nvSpPr>
          <p:spPr>
            <a:xfrm>
              <a:off x="8177202" y="1383952"/>
              <a:ext cx="158830" cy="17905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/>
            <p:cNvSpPr/>
            <p:nvPr/>
          </p:nvSpPr>
          <p:spPr>
            <a:xfrm>
              <a:off x="8495560" y="1371600"/>
              <a:ext cx="158830" cy="179055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3361068" y="1524771"/>
              <a:ext cx="853247" cy="3693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CPU0</a:t>
              </a:r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4351935" y="3518264"/>
              <a:ext cx="3200300" cy="10428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5" name="Straight Connector 154"/>
            <p:cNvCxnSpPr/>
            <p:nvPr/>
          </p:nvCxnSpPr>
          <p:spPr>
            <a:xfrm>
              <a:off x="4351935" y="3855854"/>
              <a:ext cx="3200300" cy="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/>
          </p:nvCxnSpPr>
          <p:spPr>
            <a:xfrm>
              <a:off x="4351935" y="4201702"/>
              <a:ext cx="3200300" cy="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7" name="Group 49"/>
            <p:cNvGrpSpPr/>
            <p:nvPr/>
          </p:nvGrpSpPr>
          <p:grpSpPr>
            <a:xfrm>
              <a:off x="4643419" y="3504427"/>
              <a:ext cx="2545622" cy="1067569"/>
              <a:chOff x="3498833" y="2209029"/>
              <a:chExt cx="2673367" cy="3429771"/>
            </a:xfrm>
          </p:grpSpPr>
          <p:cxnSp>
            <p:nvCxnSpPr>
              <p:cNvPr id="250" name="Straight Connector 249"/>
              <p:cNvCxnSpPr/>
              <p:nvPr/>
            </p:nvCxnSpPr>
            <p:spPr>
              <a:xfrm rot="16200000" flipH="1">
                <a:off x="3711507" y="3935900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Connector 250"/>
              <p:cNvCxnSpPr/>
              <p:nvPr/>
            </p:nvCxnSpPr>
            <p:spPr>
              <a:xfrm rot="16200000" flipH="1">
                <a:off x="4089313" y="3936913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Connector 251"/>
              <p:cNvCxnSpPr/>
              <p:nvPr/>
            </p:nvCxnSpPr>
            <p:spPr>
              <a:xfrm rot="16200000" flipH="1">
                <a:off x="4470313" y="3936913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/>
              <p:cNvCxnSpPr/>
              <p:nvPr/>
            </p:nvCxnSpPr>
            <p:spPr>
              <a:xfrm rot="16200000" flipH="1">
                <a:off x="2568479" y="3936801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/>
              <p:cNvCxnSpPr/>
              <p:nvPr/>
            </p:nvCxnSpPr>
            <p:spPr>
              <a:xfrm rot="16200000" flipH="1">
                <a:off x="1798683" y="3936804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Connector 254"/>
              <p:cNvCxnSpPr/>
              <p:nvPr/>
            </p:nvCxnSpPr>
            <p:spPr>
              <a:xfrm rot="16200000" flipH="1">
                <a:off x="2183580" y="3935901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/>
              <p:cNvCxnSpPr/>
              <p:nvPr/>
            </p:nvCxnSpPr>
            <p:spPr>
              <a:xfrm rot="16200000" flipH="1">
                <a:off x="2973906" y="3909180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/>
              <p:cNvCxnSpPr/>
              <p:nvPr/>
            </p:nvCxnSpPr>
            <p:spPr>
              <a:xfrm rot="16200000" flipH="1">
                <a:off x="3359737" y="3909179"/>
                <a:ext cx="3402037" cy="173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8" name="TextBox 157"/>
            <p:cNvSpPr txBox="1"/>
            <p:nvPr/>
          </p:nvSpPr>
          <p:spPr>
            <a:xfrm>
              <a:off x="3361068" y="3810000"/>
              <a:ext cx="853247" cy="3693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CPU1</a:t>
              </a:r>
            </a:p>
          </p:txBody>
        </p:sp>
        <p:cxnSp>
          <p:nvCxnSpPr>
            <p:cNvPr id="159" name="Straight Connector 158"/>
            <p:cNvCxnSpPr/>
            <p:nvPr/>
          </p:nvCxnSpPr>
          <p:spPr>
            <a:xfrm>
              <a:off x="4362747" y="6029414"/>
              <a:ext cx="3200300" cy="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/>
          </p:nvCxnSpPr>
          <p:spPr>
            <a:xfrm>
              <a:off x="4362747" y="6375262"/>
              <a:ext cx="3200300" cy="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TextBox 160"/>
            <p:cNvSpPr txBox="1"/>
            <p:nvPr/>
          </p:nvSpPr>
          <p:spPr>
            <a:xfrm>
              <a:off x="3361068" y="5983560"/>
              <a:ext cx="853247" cy="3693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CPU2</a:t>
              </a:r>
            </a:p>
          </p:txBody>
        </p:sp>
        <p:sp>
          <p:nvSpPr>
            <p:cNvPr id="162" name="Oval 161"/>
            <p:cNvSpPr/>
            <p:nvPr/>
          </p:nvSpPr>
          <p:spPr>
            <a:xfrm>
              <a:off x="4286878" y="2185852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/>
            <p:cNvSpPr/>
            <p:nvPr/>
          </p:nvSpPr>
          <p:spPr>
            <a:xfrm>
              <a:off x="4563429" y="2196737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/>
            <p:cNvSpPr/>
            <p:nvPr/>
          </p:nvSpPr>
          <p:spPr>
            <a:xfrm>
              <a:off x="4926246" y="2196737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/>
            <p:cNvSpPr/>
            <p:nvPr/>
          </p:nvSpPr>
          <p:spPr>
            <a:xfrm>
              <a:off x="5289064" y="2196737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/>
            <p:cNvSpPr/>
            <p:nvPr/>
          </p:nvSpPr>
          <p:spPr>
            <a:xfrm>
              <a:off x="5689200" y="2196737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/>
            <p:cNvSpPr/>
            <p:nvPr/>
          </p:nvSpPr>
          <p:spPr>
            <a:xfrm>
              <a:off x="6062383" y="2196737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/>
            <p:cNvSpPr/>
            <p:nvPr/>
          </p:nvSpPr>
          <p:spPr>
            <a:xfrm>
              <a:off x="6377516" y="2196737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/>
            <p:cNvSpPr/>
            <p:nvPr/>
          </p:nvSpPr>
          <p:spPr>
            <a:xfrm>
              <a:off x="6740333" y="2196737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/>
            <p:cNvSpPr/>
            <p:nvPr/>
          </p:nvSpPr>
          <p:spPr>
            <a:xfrm>
              <a:off x="7115590" y="2196737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/>
            <p:cNvSpPr/>
            <p:nvPr/>
          </p:nvSpPr>
          <p:spPr>
            <a:xfrm>
              <a:off x="7472190" y="2183674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Oval 171"/>
            <p:cNvSpPr/>
            <p:nvPr/>
          </p:nvSpPr>
          <p:spPr>
            <a:xfrm>
              <a:off x="4286878" y="2463997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/>
            <p:cNvSpPr/>
            <p:nvPr/>
          </p:nvSpPr>
          <p:spPr>
            <a:xfrm>
              <a:off x="4563429" y="2474882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Oval 173"/>
            <p:cNvSpPr/>
            <p:nvPr/>
          </p:nvSpPr>
          <p:spPr>
            <a:xfrm>
              <a:off x="4926246" y="2474882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/>
            <p:cNvSpPr/>
            <p:nvPr/>
          </p:nvSpPr>
          <p:spPr>
            <a:xfrm>
              <a:off x="5289064" y="2474882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Oval 175"/>
            <p:cNvSpPr/>
            <p:nvPr/>
          </p:nvSpPr>
          <p:spPr>
            <a:xfrm>
              <a:off x="5689200" y="2474882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Oval 176"/>
            <p:cNvSpPr/>
            <p:nvPr/>
          </p:nvSpPr>
          <p:spPr>
            <a:xfrm>
              <a:off x="6062383" y="2474882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Oval 177"/>
            <p:cNvSpPr/>
            <p:nvPr/>
          </p:nvSpPr>
          <p:spPr>
            <a:xfrm>
              <a:off x="6377516" y="2474882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Oval 178"/>
            <p:cNvSpPr/>
            <p:nvPr/>
          </p:nvSpPr>
          <p:spPr>
            <a:xfrm>
              <a:off x="6740333" y="2474882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Oval 179"/>
            <p:cNvSpPr/>
            <p:nvPr/>
          </p:nvSpPr>
          <p:spPr>
            <a:xfrm>
              <a:off x="7115590" y="2474882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Oval 180"/>
            <p:cNvSpPr/>
            <p:nvPr/>
          </p:nvSpPr>
          <p:spPr>
            <a:xfrm>
              <a:off x="7472190" y="2461819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Oval 181"/>
            <p:cNvSpPr/>
            <p:nvPr/>
          </p:nvSpPr>
          <p:spPr>
            <a:xfrm>
              <a:off x="4282730" y="3101901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Oval 182"/>
            <p:cNvSpPr/>
            <p:nvPr/>
          </p:nvSpPr>
          <p:spPr>
            <a:xfrm>
              <a:off x="4559281" y="3112786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/>
            <p:cNvSpPr/>
            <p:nvPr/>
          </p:nvSpPr>
          <p:spPr>
            <a:xfrm>
              <a:off x="4922098" y="3112786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/>
            <p:cNvSpPr/>
            <p:nvPr/>
          </p:nvSpPr>
          <p:spPr>
            <a:xfrm>
              <a:off x="5284915" y="3112786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/>
            <p:cNvSpPr/>
            <p:nvPr/>
          </p:nvSpPr>
          <p:spPr>
            <a:xfrm>
              <a:off x="5685052" y="3112786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Oval 186"/>
            <p:cNvSpPr/>
            <p:nvPr/>
          </p:nvSpPr>
          <p:spPr>
            <a:xfrm>
              <a:off x="6058235" y="3112786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Oval 187"/>
            <p:cNvSpPr/>
            <p:nvPr/>
          </p:nvSpPr>
          <p:spPr>
            <a:xfrm>
              <a:off x="6373368" y="3112786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/>
            <p:cNvSpPr/>
            <p:nvPr/>
          </p:nvSpPr>
          <p:spPr>
            <a:xfrm>
              <a:off x="6736185" y="3112786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/>
            <p:cNvSpPr/>
            <p:nvPr/>
          </p:nvSpPr>
          <p:spPr>
            <a:xfrm>
              <a:off x="7111442" y="3112786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/>
            <p:cNvSpPr/>
            <p:nvPr/>
          </p:nvSpPr>
          <p:spPr>
            <a:xfrm>
              <a:off x="7468042" y="3099723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/>
            <p:cNvSpPr/>
            <p:nvPr/>
          </p:nvSpPr>
          <p:spPr>
            <a:xfrm>
              <a:off x="4280656" y="3397994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/>
            <p:cNvSpPr/>
            <p:nvPr/>
          </p:nvSpPr>
          <p:spPr>
            <a:xfrm>
              <a:off x="4557207" y="3408879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/>
            <p:cNvSpPr/>
            <p:nvPr/>
          </p:nvSpPr>
          <p:spPr>
            <a:xfrm>
              <a:off x="4920024" y="3408879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/>
            <p:cNvSpPr/>
            <p:nvPr/>
          </p:nvSpPr>
          <p:spPr>
            <a:xfrm>
              <a:off x="5282841" y="3408879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/>
            <p:cNvSpPr/>
            <p:nvPr/>
          </p:nvSpPr>
          <p:spPr>
            <a:xfrm>
              <a:off x="5682978" y="3408879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/>
            <p:cNvSpPr/>
            <p:nvPr/>
          </p:nvSpPr>
          <p:spPr>
            <a:xfrm>
              <a:off x="6056161" y="3408879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/>
            <p:cNvSpPr/>
            <p:nvPr/>
          </p:nvSpPr>
          <p:spPr>
            <a:xfrm>
              <a:off x="6371294" y="3408879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/>
            <p:cNvSpPr/>
            <p:nvPr/>
          </p:nvSpPr>
          <p:spPr>
            <a:xfrm>
              <a:off x="6734111" y="3408879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/>
            <p:cNvSpPr/>
            <p:nvPr/>
          </p:nvSpPr>
          <p:spPr>
            <a:xfrm>
              <a:off x="7109368" y="3408879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/>
            <p:cNvSpPr/>
            <p:nvPr/>
          </p:nvSpPr>
          <p:spPr>
            <a:xfrm>
              <a:off x="7465968" y="3395816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/>
            <p:cNvSpPr/>
            <p:nvPr/>
          </p:nvSpPr>
          <p:spPr>
            <a:xfrm>
              <a:off x="4278587" y="4389118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/>
            <p:cNvSpPr/>
            <p:nvPr/>
          </p:nvSpPr>
          <p:spPr>
            <a:xfrm>
              <a:off x="4555137" y="4400003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/>
            <p:cNvSpPr/>
            <p:nvPr/>
          </p:nvSpPr>
          <p:spPr>
            <a:xfrm>
              <a:off x="4917955" y="4400003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/>
            <p:cNvSpPr/>
            <p:nvPr/>
          </p:nvSpPr>
          <p:spPr>
            <a:xfrm>
              <a:off x="5280772" y="4400003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/>
            <p:cNvSpPr/>
            <p:nvPr/>
          </p:nvSpPr>
          <p:spPr>
            <a:xfrm>
              <a:off x="5680908" y="4400003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/>
            <p:cNvSpPr/>
            <p:nvPr/>
          </p:nvSpPr>
          <p:spPr>
            <a:xfrm>
              <a:off x="6054091" y="4400003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/>
            <p:cNvSpPr/>
            <p:nvPr/>
          </p:nvSpPr>
          <p:spPr>
            <a:xfrm>
              <a:off x="6369224" y="4400003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/>
            <p:cNvSpPr/>
            <p:nvPr/>
          </p:nvSpPr>
          <p:spPr>
            <a:xfrm>
              <a:off x="6732042" y="4400003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/>
            <p:cNvSpPr/>
            <p:nvPr/>
          </p:nvSpPr>
          <p:spPr>
            <a:xfrm>
              <a:off x="7107299" y="4400003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/>
            <p:cNvSpPr/>
            <p:nvPr/>
          </p:nvSpPr>
          <p:spPr>
            <a:xfrm>
              <a:off x="7463899" y="4386940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Oval 211"/>
            <p:cNvSpPr/>
            <p:nvPr/>
          </p:nvSpPr>
          <p:spPr>
            <a:xfrm>
              <a:off x="4278587" y="4654200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Oval 212"/>
            <p:cNvSpPr/>
            <p:nvPr/>
          </p:nvSpPr>
          <p:spPr>
            <a:xfrm>
              <a:off x="4555137" y="466508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Oval 213"/>
            <p:cNvSpPr/>
            <p:nvPr/>
          </p:nvSpPr>
          <p:spPr>
            <a:xfrm>
              <a:off x="4917955" y="466508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Oval 214"/>
            <p:cNvSpPr/>
            <p:nvPr/>
          </p:nvSpPr>
          <p:spPr>
            <a:xfrm>
              <a:off x="5280772" y="466508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Oval 215"/>
            <p:cNvSpPr/>
            <p:nvPr/>
          </p:nvSpPr>
          <p:spPr>
            <a:xfrm>
              <a:off x="5680908" y="466508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/>
            <p:cNvSpPr/>
            <p:nvPr/>
          </p:nvSpPr>
          <p:spPr>
            <a:xfrm>
              <a:off x="6054091" y="466508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Oval 217"/>
            <p:cNvSpPr/>
            <p:nvPr/>
          </p:nvSpPr>
          <p:spPr>
            <a:xfrm>
              <a:off x="6369224" y="466508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Oval 218"/>
            <p:cNvSpPr/>
            <p:nvPr/>
          </p:nvSpPr>
          <p:spPr>
            <a:xfrm>
              <a:off x="6732042" y="466508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/>
            <p:cNvSpPr/>
            <p:nvPr/>
          </p:nvSpPr>
          <p:spPr>
            <a:xfrm>
              <a:off x="7107299" y="466508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Oval 220"/>
            <p:cNvSpPr/>
            <p:nvPr/>
          </p:nvSpPr>
          <p:spPr>
            <a:xfrm>
              <a:off x="7463899" y="4652022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/>
            <p:cNvSpPr/>
            <p:nvPr/>
          </p:nvSpPr>
          <p:spPr>
            <a:xfrm>
              <a:off x="4274438" y="5305167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/>
            <p:cNvSpPr/>
            <p:nvPr/>
          </p:nvSpPr>
          <p:spPr>
            <a:xfrm>
              <a:off x="4550989" y="5316052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/>
            <p:cNvSpPr/>
            <p:nvPr/>
          </p:nvSpPr>
          <p:spPr>
            <a:xfrm>
              <a:off x="4913807" y="5316052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/>
            <p:cNvSpPr/>
            <p:nvPr/>
          </p:nvSpPr>
          <p:spPr>
            <a:xfrm>
              <a:off x="5276624" y="5316052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/>
            <p:cNvSpPr/>
            <p:nvPr/>
          </p:nvSpPr>
          <p:spPr>
            <a:xfrm>
              <a:off x="5676760" y="5316052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226"/>
            <p:cNvSpPr/>
            <p:nvPr/>
          </p:nvSpPr>
          <p:spPr>
            <a:xfrm>
              <a:off x="6049943" y="5316052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/>
            <p:cNvSpPr/>
            <p:nvPr/>
          </p:nvSpPr>
          <p:spPr>
            <a:xfrm>
              <a:off x="6365076" y="5316052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/>
            <p:cNvSpPr/>
            <p:nvPr/>
          </p:nvSpPr>
          <p:spPr>
            <a:xfrm>
              <a:off x="6727894" y="5316052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/>
            <p:cNvSpPr/>
            <p:nvPr/>
          </p:nvSpPr>
          <p:spPr>
            <a:xfrm>
              <a:off x="7103151" y="5316052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Oval 230"/>
            <p:cNvSpPr/>
            <p:nvPr/>
          </p:nvSpPr>
          <p:spPr>
            <a:xfrm>
              <a:off x="7459751" y="5302989"/>
              <a:ext cx="158830" cy="179055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/>
            <p:cNvSpPr/>
            <p:nvPr/>
          </p:nvSpPr>
          <p:spPr>
            <a:xfrm>
              <a:off x="4272364" y="5601260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Oval 232"/>
            <p:cNvSpPr/>
            <p:nvPr/>
          </p:nvSpPr>
          <p:spPr>
            <a:xfrm>
              <a:off x="4548915" y="561214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Oval 233"/>
            <p:cNvSpPr/>
            <p:nvPr/>
          </p:nvSpPr>
          <p:spPr>
            <a:xfrm>
              <a:off x="4911733" y="561214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Oval 234"/>
            <p:cNvSpPr/>
            <p:nvPr/>
          </p:nvSpPr>
          <p:spPr>
            <a:xfrm>
              <a:off x="5274550" y="561214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Oval 235"/>
            <p:cNvSpPr/>
            <p:nvPr/>
          </p:nvSpPr>
          <p:spPr>
            <a:xfrm>
              <a:off x="5674686" y="561214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Oval 236"/>
            <p:cNvSpPr/>
            <p:nvPr/>
          </p:nvSpPr>
          <p:spPr>
            <a:xfrm>
              <a:off x="6047869" y="561214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Oval 237"/>
            <p:cNvSpPr/>
            <p:nvPr/>
          </p:nvSpPr>
          <p:spPr>
            <a:xfrm>
              <a:off x="6363002" y="561214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Oval 238"/>
            <p:cNvSpPr/>
            <p:nvPr/>
          </p:nvSpPr>
          <p:spPr>
            <a:xfrm>
              <a:off x="6725820" y="561214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Oval 239"/>
            <p:cNvSpPr/>
            <p:nvPr/>
          </p:nvSpPr>
          <p:spPr>
            <a:xfrm>
              <a:off x="7101077" y="5612145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Oval 240"/>
            <p:cNvSpPr/>
            <p:nvPr/>
          </p:nvSpPr>
          <p:spPr>
            <a:xfrm>
              <a:off x="7457677" y="5599082"/>
              <a:ext cx="158830" cy="17905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Rectangle 241"/>
            <p:cNvSpPr/>
            <p:nvPr/>
          </p:nvSpPr>
          <p:spPr>
            <a:xfrm>
              <a:off x="4141751" y="2971800"/>
              <a:ext cx="4789190" cy="381000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4141751" y="2011791"/>
              <a:ext cx="4789190" cy="381000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4141751" y="4624252"/>
              <a:ext cx="4789190" cy="381000"/>
            </a:xfrm>
            <a:prstGeom prst="rect">
              <a:avLst/>
            </a:prstGeom>
            <a:noFill/>
            <a:ln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Rectangle 244"/>
            <p:cNvSpPr/>
            <p:nvPr/>
          </p:nvSpPr>
          <p:spPr>
            <a:xfrm>
              <a:off x="4141751" y="5538652"/>
              <a:ext cx="4789190" cy="381000"/>
            </a:xfrm>
            <a:prstGeom prst="rect">
              <a:avLst/>
            </a:prstGeom>
            <a:noFill/>
            <a:ln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6" name="Straight Arrow Connector 245"/>
            <p:cNvCxnSpPr/>
            <p:nvPr/>
          </p:nvCxnSpPr>
          <p:spPr>
            <a:xfrm rot="5400000">
              <a:off x="4701215" y="2743219"/>
              <a:ext cx="913606" cy="756"/>
            </a:xfrm>
            <a:prstGeom prst="straightConnector1">
              <a:avLst/>
            </a:prstGeom>
            <a:ln w="50800"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Arrow Connector 246"/>
            <p:cNvCxnSpPr/>
            <p:nvPr/>
          </p:nvCxnSpPr>
          <p:spPr>
            <a:xfrm rot="5400000">
              <a:off x="4682691" y="5009938"/>
              <a:ext cx="951411" cy="1512"/>
            </a:xfrm>
            <a:prstGeom prst="straightConnector1">
              <a:avLst/>
            </a:prstGeom>
            <a:ln w="50800">
              <a:solidFill>
                <a:schemeClr val="accent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Arrow Connector 247"/>
            <p:cNvCxnSpPr/>
            <p:nvPr/>
          </p:nvCxnSpPr>
          <p:spPr>
            <a:xfrm rot="5400000">
              <a:off x="5460160" y="3009522"/>
              <a:ext cx="990600" cy="756"/>
            </a:xfrm>
            <a:prstGeom prst="straightConnector1">
              <a:avLst/>
            </a:prstGeom>
            <a:ln w="50800">
              <a:solidFill>
                <a:srgbClr val="FFC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Arrow Connector 248"/>
            <p:cNvCxnSpPr/>
            <p:nvPr/>
          </p:nvCxnSpPr>
          <p:spPr>
            <a:xfrm rot="5400000">
              <a:off x="5460916" y="5232385"/>
              <a:ext cx="990600" cy="756"/>
            </a:xfrm>
            <a:prstGeom prst="straightConnector1">
              <a:avLst/>
            </a:prstGeom>
            <a:ln w="50800">
              <a:solidFill>
                <a:srgbClr val="FFC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6248400" cy="533400"/>
          </a:xfrm>
        </p:spPr>
        <p:txBody>
          <a:bodyPr>
            <a:normAutofit/>
          </a:bodyPr>
          <a:lstStyle/>
          <a:p>
            <a:r>
              <a:rPr lang="en-US" sz="2800" dirty="0"/>
              <a:t>B4.1b): </a:t>
            </a:r>
            <a:r>
              <a:rPr lang="en-US" sz="2800" dirty="0" err="1"/>
              <a:t>Truyền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</a:t>
            </a:r>
            <a:r>
              <a:rPr lang="en-US" sz="2800" dirty="0" err="1"/>
              <a:t>mảng</a:t>
            </a:r>
            <a:r>
              <a:rPr lang="en-US" sz="2800" dirty="0"/>
              <a:t> </a:t>
            </a:r>
            <a:r>
              <a:rPr lang="en-US" sz="2800" b="1" i="1" dirty="0" err="1">
                <a:solidFill>
                  <a:srgbClr val="FFC000"/>
                </a:solidFill>
              </a:rPr>
              <a:t>Cd</a:t>
            </a:r>
            <a:r>
              <a:rPr lang="en-US" sz="2800" dirty="0"/>
              <a:t>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52400"/>
            <a:ext cx="8229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Giải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</a:t>
            </a:r>
            <a:r>
              <a:rPr kumimoji="0" lang="en-US" sz="3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thuật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song </a:t>
            </a:r>
            <a:r>
              <a:rPr kumimoji="0" lang="en-US" sz="3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song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SPMD 10 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0"/>
            <a:ext cx="6248400" cy="533400"/>
          </a:xfrm>
        </p:spPr>
        <p:txBody>
          <a:bodyPr>
            <a:normAutofit/>
          </a:bodyPr>
          <a:lstStyle/>
          <a:p>
            <a:r>
              <a:rPr lang="en-US" sz="2800" dirty="0"/>
              <a:t>B4.2: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52400"/>
            <a:ext cx="8229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Giải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</a:t>
            </a:r>
            <a:r>
              <a:rPr kumimoji="0" lang="en-US" sz="3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thuật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song </a:t>
            </a:r>
            <a:r>
              <a:rPr kumimoji="0" lang="en-US" sz="3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song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SPMD 11 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latin typeface="+mn-lt"/>
              </a:rPr>
              <a:t>Một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số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ví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dụ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ứng</a:t>
            </a:r>
            <a:r>
              <a:rPr lang="en-US" sz="3600" dirty="0">
                <a:latin typeface="+mn-lt"/>
              </a:rPr>
              <a:t> </a:t>
            </a:r>
            <a:r>
              <a:rPr lang="en-US" sz="3600" dirty="0" err="1">
                <a:latin typeface="+mn-lt"/>
              </a:rPr>
              <a:t>dụng</a:t>
            </a:r>
            <a:endParaRPr lang="en-US" sz="3600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A198AD98D1194CB242CDCC9B011EE4" ma:contentTypeVersion="7" ma:contentTypeDescription="Create a new document." ma:contentTypeScope="" ma:versionID="509a663d6c9b7b4e2cc6460408edd017">
  <xsd:schema xmlns:xsd="http://www.w3.org/2001/XMLSchema" xmlns:xs="http://www.w3.org/2001/XMLSchema" xmlns:p="http://schemas.microsoft.com/office/2006/metadata/properties" xmlns:ns2="a98a063b-9a2b-47c8-97d5-47da591caa56" targetNamespace="http://schemas.microsoft.com/office/2006/metadata/properties" ma:root="true" ma:fieldsID="c601aed7538940e13b730691bae8df37" ns2:_="">
    <xsd:import namespace="a98a063b-9a2b-47c8-97d5-47da591caa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8a063b-9a2b-47c8-97d5-47da591caa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2B03261-CE57-4E79-A1E4-992EADBD51F1}"/>
</file>

<file path=customXml/itemProps2.xml><?xml version="1.0" encoding="utf-8"?>
<ds:datastoreItem xmlns:ds="http://schemas.openxmlformats.org/officeDocument/2006/customXml" ds:itemID="{8E3BBCBA-C789-4096-A91D-0EAAD63AE239}"/>
</file>

<file path=customXml/itemProps3.xml><?xml version="1.0" encoding="utf-8"?>
<ds:datastoreItem xmlns:ds="http://schemas.openxmlformats.org/officeDocument/2006/customXml" ds:itemID="{D86C0764-E6AC-4705-9B89-51EE9BAA1326}"/>
</file>

<file path=docProps/app.xml><?xml version="1.0" encoding="utf-8"?>
<Properties xmlns="http://schemas.openxmlformats.org/officeDocument/2006/extended-properties" xmlns:vt="http://schemas.openxmlformats.org/officeDocument/2006/docPropsVTypes">
  <TotalTime>1137</TotalTime>
  <Words>1093</Words>
  <Application>Microsoft Office PowerPoint</Application>
  <PresentationFormat>On-screen Show (4:3)</PresentationFormat>
  <Paragraphs>146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Times New Roman</vt:lpstr>
      <vt:lpstr>Office Theme</vt:lpstr>
      <vt:lpstr>Equation</vt:lpstr>
      <vt:lpstr>GIẢI THUẬT VÀ CÀI ĐẶT CHƯƠNG TRÌNH SONG SONG  BÀI TOÁN CÓ SỰ PHỤ THUỘC DỮ LIỆU PHƯƠNG TRÌNH NHIỆT</vt:lpstr>
      <vt:lpstr>Mô hình toán học và Phương pháp giải</vt:lpstr>
      <vt:lpstr>Sự phụ thuộc dữ liệu</vt:lpstr>
      <vt:lpstr>Mô hình toán học và Phương pháp giải</vt:lpstr>
      <vt:lpstr>Cài đặt hàm rời rạc hóa theo không gian: FD</vt:lpstr>
      <vt:lpstr>Cài đặt hàm tích hợp theo thời gian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Một số ví dụ ứng dụng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CÀI ĐẶT CHƯƠNG TRÌNH SONG SONG PHƯƠNG TRÌNH NHIỆT</dc:title>
  <dc:creator>Lenovo</dc:creator>
  <cp:lastModifiedBy>Vu Van Thieu</cp:lastModifiedBy>
  <cp:revision>96</cp:revision>
  <dcterms:created xsi:type="dcterms:W3CDTF">2006-08-16T00:00:00Z</dcterms:created>
  <dcterms:modified xsi:type="dcterms:W3CDTF">2023-10-13T01:40:09Z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0x010100CDA198AD98D1194CB242CDCC9B011EE4</vt:lpwstr>
  </property>
</Properties>
</file>